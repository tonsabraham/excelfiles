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14" y="-3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92A21-EA57-4BF0-850C-200D21E4CD2F}" type="datetimeFigureOut">
              <a:rPr lang="en-US" smtClean="0"/>
              <a:t>20-Feb-21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759E-A33F-4DED-ADB5-F7468ECE2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0753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92A21-EA57-4BF0-850C-200D21E4CD2F}" type="datetimeFigureOut">
              <a:rPr lang="en-US" smtClean="0"/>
              <a:t>20-Feb-21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759E-A33F-4DED-ADB5-F7468ECE2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322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92A21-EA57-4BF0-850C-200D21E4CD2F}" type="datetimeFigureOut">
              <a:rPr lang="en-US" smtClean="0"/>
              <a:t>20-Feb-21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759E-A33F-4DED-ADB5-F7468ECE2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9604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92A21-EA57-4BF0-850C-200D21E4CD2F}" type="datetimeFigureOut">
              <a:rPr lang="en-US" smtClean="0"/>
              <a:t>20-Feb-21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759E-A33F-4DED-ADB5-F7468ECE2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932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92A21-EA57-4BF0-850C-200D21E4CD2F}" type="datetimeFigureOut">
              <a:rPr lang="en-US" smtClean="0"/>
              <a:t>20-Feb-21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759E-A33F-4DED-ADB5-F7468ECE2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5477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92A21-EA57-4BF0-850C-200D21E4CD2F}" type="datetimeFigureOut">
              <a:rPr lang="en-US" smtClean="0"/>
              <a:t>20-Feb-21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759E-A33F-4DED-ADB5-F7468ECE2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6471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92A21-EA57-4BF0-850C-200D21E4CD2F}" type="datetimeFigureOut">
              <a:rPr lang="en-US" smtClean="0"/>
              <a:t>20-Feb-21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759E-A33F-4DED-ADB5-F7468ECE2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7527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92A21-EA57-4BF0-850C-200D21E4CD2F}" type="datetimeFigureOut">
              <a:rPr lang="en-US" smtClean="0"/>
              <a:t>20-Feb-21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759E-A33F-4DED-ADB5-F7468ECE2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245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92A21-EA57-4BF0-850C-200D21E4CD2F}" type="datetimeFigureOut">
              <a:rPr lang="en-US" smtClean="0"/>
              <a:t>20-Feb-21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759E-A33F-4DED-ADB5-F7468ECE2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84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92A21-EA57-4BF0-850C-200D21E4CD2F}" type="datetimeFigureOut">
              <a:rPr lang="en-US" smtClean="0"/>
              <a:t>20-Feb-21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759E-A33F-4DED-ADB5-F7468ECE2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6438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92A21-EA57-4BF0-850C-200D21E4CD2F}" type="datetimeFigureOut">
              <a:rPr lang="en-US" smtClean="0"/>
              <a:t>20-Feb-21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759E-A33F-4DED-ADB5-F7468ECE2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273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392A21-EA57-4BF0-850C-200D21E4CD2F}" type="datetimeFigureOut">
              <a:rPr lang="en-US" smtClean="0"/>
              <a:t>20-Feb-21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A7759E-A33F-4DED-ADB5-F7468ECE2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06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114" y="582839"/>
            <a:ext cx="10015471" cy="397344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sz="1800" b="1" dirty="0" smtClean="0"/>
              <a:t>WORK BREAK DOWN STRUCTURE </a:t>
            </a:r>
            <a:endParaRPr lang="en-US" sz="1800" b="1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086118" y="960428"/>
            <a:ext cx="9144000" cy="3973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dirty="0" smtClean="0"/>
              <a:t>PROJECT TITLE : </a:t>
            </a:r>
            <a:endParaRPr lang="en-US" sz="1800" b="1" dirty="0"/>
          </a:p>
        </p:txBody>
      </p:sp>
      <p:sp>
        <p:nvSpPr>
          <p:cNvPr id="5" name="Line 3"/>
          <p:cNvSpPr>
            <a:spLocks noChangeShapeType="1"/>
          </p:cNvSpPr>
          <p:nvPr/>
        </p:nvSpPr>
        <p:spPr bwMode="auto">
          <a:xfrm>
            <a:off x="2159581" y="1895934"/>
            <a:ext cx="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257911" tIns="128949" rIns="257911" bIns="128949" anchor="ctr"/>
          <a:lstStyle/>
          <a:p>
            <a:endParaRPr lang="en-US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hidden">
          <a:xfrm>
            <a:off x="4574169" y="1357772"/>
            <a:ext cx="2622550" cy="3079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GB" altLang="en-US" sz="1400" dirty="0" smtClean="0">
                <a:latin typeface="Arial Narrow" panose="020B0606020202030204" pitchFamily="34" charset="0"/>
              </a:rPr>
              <a:t>TOTAL PROJECT</a:t>
            </a:r>
          </a:p>
        </p:txBody>
      </p:sp>
      <p:sp>
        <p:nvSpPr>
          <p:cNvPr id="7" name="Line 44"/>
          <p:cNvSpPr>
            <a:spLocks noChangeShapeType="1"/>
          </p:cNvSpPr>
          <p:nvPr/>
        </p:nvSpPr>
        <p:spPr bwMode="auto">
          <a:xfrm>
            <a:off x="1556331" y="3059572"/>
            <a:ext cx="0" cy="15001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49"/>
          <p:cNvSpPr>
            <a:spLocks noChangeArrowheads="1"/>
          </p:cNvSpPr>
          <p:nvPr/>
        </p:nvSpPr>
        <p:spPr bwMode="auto">
          <a:xfrm>
            <a:off x="1694444" y="3837447"/>
            <a:ext cx="1155700" cy="12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 Narrow" panose="020B0606020202030204" pitchFamily="34" charset="0"/>
              </a:rPr>
              <a:t>HVAC, Mechanical &amp; Piping.</a:t>
            </a:r>
            <a:endParaRPr lang="en-US" altLang="en-US" sz="800">
              <a:solidFill>
                <a:srgbClr val="0000FF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Rectangle 56"/>
          <p:cNvSpPr>
            <a:spLocks noChangeArrowheads="1"/>
          </p:cNvSpPr>
          <p:nvPr/>
        </p:nvSpPr>
        <p:spPr bwMode="auto">
          <a:xfrm>
            <a:off x="1686506" y="3110372"/>
            <a:ext cx="912813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 Narrow" panose="020B0606020202030204" pitchFamily="34" charset="0"/>
              </a:rPr>
              <a:t>Civil / Structural </a:t>
            </a:r>
            <a:endParaRPr lang="en-US" altLang="en-US" sz="800">
              <a:solidFill>
                <a:srgbClr val="0000FF"/>
              </a:solidFill>
              <a:latin typeface="Arial Narrow" panose="020B0606020202030204" pitchFamily="34" charset="0"/>
            </a:endParaRPr>
          </a:p>
        </p:txBody>
      </p:sp>
      <p:sp>
        <p:nvSpPr>
          <p:cNvPr id="10" name="Rectangle 60"/>
          <p:cNvSpPr>
            <a:spLocks noChangeArrowheads="1"/>
          </p:cNvSpPr>
          <p:nvPr/>
        </p:nvSpPr>
        <p:spPr bwMode="auto">
          <a:xfrm>
            <a:off x="1686506" y="3562809"/>
            <a:ext cx="1919288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 Narrow" panose="020B0606020202030204" pitchFamily="34" charset="0"/>
              </a:rPr>
              <a:t>Instrumentation/Telecommunication/Data/CCTV/PA/AV etc.</a:t>
            </a:r>
            <a:endParaRPr lang="en-US" altLang="en-US" sz="800">
              <a:solidFill>
                <a:srgbClr val="0000FF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11" name="Group 4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5014706"/>
              </p:ext>
            </p:extLst>
          </p:nvPr>
        </p:nvGraphicFramePr>
        <p:xfrm>
          <a:off x="1476956" y="2657934"/>
          <a:ext cx="1439863" cy="403225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49595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4391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0772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000" b="1" kern="1200" dirty="0" smtClean="0"/>
                        <a:t>Detailed Engineering</a:t>
                      </a:r>
                      <a:endParaRPr lang="en-US" sz="1000" b="1" kern="1200" dirty="0" smtClean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0" marR="0" marT="0" marB="0" anchor="ctr" horzOverflow="overflow">
                    <a:solidFill>
                      <a:srgbClr val="FFFFCC">
                        <a:alpha val="5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550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</a:rPr>
                        <a:t>100%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 Narrow" panose="020B0606020202030204" pitchFamily="34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</a:rPr>
                        <a:t>EN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 Narrow" panose="020B0606020202030204" pitchFamily="34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12" name="Group 4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7425540"/>
              </p:ext>
            </p:extLst>
          </p:nvPr>
        </p:nvGraphicFramePr>
        <p:xfrm>
          <a:off x="5055181" y="1900697"/>
          <a:ext cx="1655763" cy="500062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57031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854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9429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000" b="1" kern="1200" dirty="0" smtClean="0"/>
                        <a:t>Procurement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000" b="1" kern="1200" dirty="0" smtClean="0"/>
                        <a:t>(Ordering &amp; Delivery) </a:t>
                      </a:r>
                      <a:endParaRPr lang="en-US" sz="1000" b="1" i="0" kern="1200" dirty="0" smtClean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solidFill>
                      <a:srgbClr val="FFFFCC">
                        <a:alpha val="5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057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</a:rPr>
                        <a:t>35%</a:t>
                      </a:r>
                    </a:p>
                  </a:txBody>
                  <a:tcPr marL="0" marR="0" marT="0" marB="0" anchor="ctr" horzOverflow="overflow"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</a:rPr>
                        <a:t>P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 Narrow" panose="020B0606020202030204" pitchFamily="34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cxnSp>
        <p:nvCxnSpPr>
          <p:cNvPr id="13" name="Straight Connector 180"/>
          <p:cNvCxnSpPr>
            <a:cxnSpLocks noChangeShapeType="1"/>
          </p:cNvCxnSpPr>
          <p:nvPr/>
        </p:nvCxnSpPr>
        <p:spPr bwMode="auto">
          <a:xfrm>
            <a:off x="5337756" y="2394409"/>
            <a:ext cx="0" cy="333375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69"/>
          <p:cNvSpPr>
            <a:spLocks noChangeArrowheads="1"/>
          </p:cNvSpPr>
          <p:nvPr/>
        </p:nvSpPr>
        <p:spPr bwMode="auto">
          <a:xfrm>
            <a:off x="5486981" y="2651584"/>
            <a:ext cx="944563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 Narrow" panose="020B0606020202030204" pitchFamily="34" charset="0"/>
              </a:rPr>
              <a:t>Bulk Materials</a:t>
            </a:r>
            <a:endParaRPr lang="en-US" altLang="en-US" sz="800">
              <a:solidFill>
                <a:srgbClr val="0000FF"/>
              </a:solidFill>
              <a:latin typeface="Arial Narrow" panose="020B0606020202030204" pitchFamily="34" charset="0"/>
            </a:endParaRPr>
          </a:p>
        </p:txBody>
      </p:sp>
      <p:sp>
        <p:nvSpPr>
          <p:cNvPr id="15" name="Rectangle 69"/>
          <p:cNvSpPr>
            <a:spLocks noChangeArrowheads="1"/>
          </p:cNvSpPr>
          <p:nvPr/>
        </p:nvSpPr>
        <p:spPr bwMode="auto">
          <a:xfrm>
            <a:off x="5486981" y="2443622"/>
            <a:ext cx="1201738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 Narrow" panose="020B0606020202030204" pitchFamily="34" charset="0"/>
              </a:rPr>
              <a:t>Equipment &amp; Package</a:t>
            </a:r>
            <a:endParaRPr lang="en-US" altLang="en-US" sz="800">
              <a:solidFill>
                <a:srgbClr val="0000FF"/>
              </a:solidFill>
              <a:latin typeface="Arial Narrow" panose="020B0606020202030204" pitchFamily="34" charset="0"/>
            </a:endParaRPr>
          </a:p>
        </p:txBody>
      </p:sp>
      <p:sp>
        <p:nvSpPr>
          <p:cNvPr id="16" name="Rectangle 66"/>
          <p:cNvSpPr>
            <a:spLocks noChangeArrowheads="1"/>
          </p:cNvSpPr>
          <p:nvPr/>
        </p:nvSpPr>
        <p:spPr bwMode="auto">
          <a:xfrm>
            <a:off x="1635706" y="4480384"/>
            <a:ext cx="950913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 Narrow" panose="020B0606020202030204" pitchFamily="34" charset="0"/>
              </a:rPr>
              <a:t> Others (Please specify)</a:t>
            </a:r>
            <a:endParaRPr lang="en-US" altLang="en-US" sz="800">
              <a:solidFill>
                <a:srgbClr val="0000FF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17" name="Group 4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53176"/>
              </p:ext>
            </p:extLst>
          </p:nvPr>
        </p:nvGraphicFramePr>
        <p:xfrm>
          <a:off x="5361569" y="3172284"/>
          <a:ext cx="1209675" cy="504825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41666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9301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6227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900" b="1" kern="1200" dirty="0" smtClean="0"/>
                        <a:t>Construction &amp; Pre-commissioning</a:t>
                      </a:r>
                      <a:endParaRPr lang="en-US" sz="900" b="1" kern="1200" dirty="0" smtClean="0">
                        <a:solidFill>
                          <a:schemeClr val="tx1"/>
                        </a:solidFill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solidFill>
                      <a:srgbClr val="DFF1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425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</a:rPr>
                        <a:t>85%</a:t>
                      </a:r>
                      <a:endParaRPr kumimoji="0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solidFill>
                      <a:srgbClr val="DFF1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</a:rPr>
                        <a:t>CP</a:t>
                      </a:r>
                      <a:endParaRPr kumimoji="0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solidFill>
                      <a:srgbClr val="DF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18" name="Group 4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0558004"/>
              </p:ext>
            </p:extLst>
          </p:nvPr>
        </p:nvGraphicFramePr>
        <p:xfrm>
          <a:off x="8852481" y="3132597"/>
          <a:ext cx="1209675" cy="504825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41666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9301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6227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900" b="1" kern="1200" dirty="0" smtClean="0"/>
                        <a:t>Commissioning &amp;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900" b="1" kern="1200" dirty="0" smtClean="0"/>
                        <a:t>As-built Drawings</a:t>
                      </a:r>
                      <a:endParaRPr lang="en-US" sz="900" b="1" kern="1200" dirty="0" smtClean="0">
                        <a:solidFill>
                          <a:schemeClr val="tx1"/>
                        </a:solidFill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solidFill>
                      <a:srgbClr val="DFF1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425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</a:rPr>
                        <a:t>15%</a:t>
                      </a:r>
                      <a:endParaRPr kumimoji="0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solidFill>
                      <a:srgbClr val="DFF1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</a:rPr>
                        <a:t>CA</a:t>
                      </a:r>
                      <a:endParaRPr kumimoji="0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solidFill>
                      <a:srgbClr val="DF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19" name="Group 4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721594"/>
              </p:ext>
            </p:extLst>
          </p:nvPr>
        </p:nvGraphicFramePr>
        <p:xfrm>
          <a:off x="7338006" y="1894347"/>
          <a:ext cx="1955800" cy="503237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67366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821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9548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000" b="1" kern="1200" dirty="0" smtClean="0"/>
                        <a:t>Construction, Commissioning  &amp; As-built Documentation</a:t>
                      </a:r>
                      <a:endParaRPr lang="en-US" sz="1000" b="1" kern="1200" dirty="0" smtClean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solidFill>
                      <a:srgbClr val="FFFFCC">
                        <a:alpha val="5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077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</a:rPr>
                        <a:t>60%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 Narrow" panose="020B0606020202030204" pitchFamily="34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</a:rPr>
                        <a:t>C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 Narrow" panose="020B0606020202030204" pitchFamily="34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cxnSp>
        <p:nvCxnSpPr>
          <p:cNvPr id="20" name="Straight Connector 11"/>
          <p:cNvCxnSpPr>
            <a:cxnSpLocks noChangeShapeType="1"/>
          </p:cNvCxnSpPr>
          <p:nvPr/>
        </p:nvCxnSpPr>
        <p:spPr bwMode="auto">
          <a:xfrm>
            <a:off x="5337756" y="2513472"/>
            <a:ext cx="90488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Rectangle 49"/>
          <p:cNvSpPr>
            <a:spLocks noChangeArrowheads="1"/>
          </p:cNvSpPr>
          <p:nvPr/>
        </p:nvSpPr>
        <p:spPr bwMode="auto">
          <a:xfrm>
            <a:off x="1692856" y="3434222"/>
            <a:ext cx="374650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Arial Narrow" panose="020B0606020202030204" pitchFamily="34" charset="0"/>
              </a:rPr>
              <a:t>Electrical</a:t>
            </a:r>
          </a:p>
        </p:txBody>
      </p:sp>
      <p:cxnSp>
        <p:nvCxnSpPr>
          <p:cNvPr id="22" name="Straight Connector 2"/>
          <p:cNvCxnSpPr>
            <a:cxnSpLocks noChangeShapeType="1"/>
          </p:cNvCxnSpPr>
          <p:nvPr/>
        </p:nvCxnSpPr>
        <p:spPr bwMode="auto">
          <a:xfrm>
            <a:off x="1556331" y="3181809"/>
            <a:ext cx="920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Connector 135"/>
          <p:cNvCxnSpPr>
            <a:cxnSpLocks noChangeShapeType="1"/>
          </p:cNvCxnSpPr>
          <p:nvPr/>
        </p:nvCxnSpPr>
        <p:spPr bwMode="auto">
          <a:xfrm>
            <a:off x="1551569" y="3502484"/>
            <a:ext cx="920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36"/>
          <p:cNvCxnSpPr>
            <a:cxnSpLocks noChangeShapeType="1"/>
          </p:cNvCxnSpPr>
          <p:nvPr/>
        </p:nvCxnSpPr>
        <p:spPr bwMode="auto">
          <a:xfrm>
            <a:off x="1551569" y="3697747"/>
            <a:ext cx="920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Straight Connector 137"/>
          <p:cNvCxnSpPr>
            <a:cxnSpLocks noChangeShapeType="1"/>
          </p:cNvCxnSpPr>
          <p:nvPr/>
        </p:nvCxnSpPr>
        <p:spPr bwMode="auto">
          <a:xfrm>
            <a:off x="1551569" y="4364497"/>
            <a:ext cx="920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Straight Connector 138"/>
          <p:cNvCxnSpPr>
            <a:cxnSpLocks noChangeShapeType="1"/>
          </p:cNvCxnSpPr>
          <p:nvPr/>
        </p:nvCxnSpPr>
        <p:spPr bwMode="auto">
          <a:xfrm>
            <a:off x="1548394" y="4548647"/>
            <a:ext cx="920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Straight Connector 139"/>
          <p:cNvCxnSpPr>
            <a:cxnSpLocks noChangeShapeType="1"/>
          </p:cNvCxnSpPr>
          <p:nvPr/>
        </p:nvCxnSpPr>
        <p:spPr bwMode="auto">
          <a:xfrm>
            <a:off x="1561094" y="4148597"/>
            <a:ext cx="920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Straight Connector 11"/>
          <p:cNvCxnSpPr>
            <a:cxnSpLocks noChangeShapeType="1"/>
          </p:cNvCxnSpPr>
          <p:nvPr/>
        </p:nvCxnSpPr>
        <p:spPr bwMode="auto">
          <a:xfrm>
            <a:off x="5334581" y="2721434"/>
            <a:ext cx="90488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Straight Connector 136"/>
          <p:cNvCxnSpPr>
            <a:cxnSpLocks noChangeShapeType="1"/>
          </p:cNvCxnSpPr>
          <p:nvPr/>
        </p:nvCxnSpPr>
        <p:spPr bwMode="auto">
          <a:xfrm>
            <a:off x="1551569" y="3913647"/>
            <a:ext cx="920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Rectangle 49"/>
          <p:cNvSpPr>
            <a:spLocks noChangeArrowheads="1"/>
          </p:cNvSpPr>
          <p:nvPr/>
        </p:nvSpPr>
        <p:spPr bwMode="auto">
          <a:xfrm>
            <a:off x="1692856" y="3278647"/>
            <a:ext cx="517525" cy="12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Arial Narrow" panose="020B0606020202030204" pitchFamily="34" charset="0"/>
              </a:rPr>
              <a:t>Architectural</a:t>
            </a:r>
          </a:p>
        </p:txBody>
      </p:sp>
      <p:cxnSp>
        <p:nvCxnSpPr>
          <p:cNvPr id="31" name="Straight Connector 135"/>
          <p:cNvCxnSpPr>
            <a:cxnSpLocks noChangeShapeType="1"/>
          </p:cNvCxnSpPr>
          <p:nvPr/>
        </p:nvCxnSpPr>
        <p:spPr bwMode="auto">
          <a:xfrm>
            <a:off x="1554744" y="3348497"/>
            <a:ext cx="920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" name="Elbow Connector 31"/>
          <p:cNvCxnSpPr>
            <a:stCxn id="6" idx="2"/>
            <a:endCxn id="12" idx="0"/>
          </p:cNvCxnSpPr>
          <p:nvPr/>
        </p:nvCxnSpPr>
        <p:spPr bwMode="auto">
          <a:xfrm rot="5400000">
            <a:off x="5767175" y="1782428"/>
            <a:ext cx="234950" cy="1588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Elbow Connector 32"/>
          <p:cNvCxnSpPr>
            <a:stCxn id="6" idx="2"/>
            <a:endCxn id="19" idx="0"/>
          </p:cNvCxnSpPr>
          <p:nvPr/>
        </p:nvCxnSpPr>
        <p:spPr bwMode="auto">
          <a:xfrm rot="16200000" flipH="1">
            <a:off x="6986375" y="564816"/>
            <a:ext cx="228600" cy="2430462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Rectangle 49"/>
          <p:cNvSpPr>
            <a:spLocks noChangeArrowheads="1"/>
          </p:cNvSpPr>
          <p:nvPr/>
        </p:nvSpPr>
        <p:spPr bwMode="auto">
          <a:xfrm>
            <a:off x="1686506" y="4066047"/>
            <a:ext cx="814388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 Narrow" panose="020B0606020202030204" pitchFamily="34" charset="0"/>
              </a:rPr>
              <a:t>Kitchen Equipment. </a:t>
            </a:r>
            <a:endParaRPr lang="en-US" altLang="en-US" sz="800">
              <a:solidFill>
                <a:srgbClr val="0000FF"/>
              </a:solidFill>
              <a:latin typeface="Arial Narrow" panose="020B0606020202030204" pitchFamily="34" charset="0"/>
            </a:endParaRPr>
          </a:p>
        </p:txBody>
      </p:sp>
      <p:sp>
        <p:nvSpPr>
          <p:cNvPr id="35" name="Rectangle 49"/>
          <p:cNvSpPr>
            <a:spLocks noChangeArrowheads="1"/>
          </p:cNvSpPr>
          <p:nvPr/>
        </p:nvSpPr>
        <p:spPr bwMode="auto">
          <a:xfrm>
            <a:off x="1686506" y="4300997"/>
            <a:ext cx="942975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 Narrow" panose="020B0606020202030204" pitchFamily="34" charset="0"/>
              </a:rPr>
              <a:t>Laboratory Equipment. </a:t>
            </a:r>
            <a:endParaRPr lang="en-US" altLang="en-US" sz="800">
              <a:solidFill>
                <a:srgbClr val="0000FF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36" name="Elbow Connector 35"/>
          <p:cNvCxnSpPr>
            <a:stCxn id="100" idx="2"/>
            <a:endCxn id="11" idx="0"/>
          </p:cNvCxnSpPr>
          <p:nvPr/>
        </p:nvCxnSpPr>
        <p:spPr bwMode="auto">
          <a:xfrm rot="5400000">
            <a:off x="2347700" y="2241215"/>
            <a:ext cx="266700" cy="566738"/>
          </a:xfrm>
          <a:prstGeom prst="bentConnector3">
            <a:avLst>
              <a:gd name="adj1" fmla="val 50000"/>
            </a:avLst>
          </a:prstGeom>
          <a:ln w="9525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Elbow Connector 36"/>
          <p:cNvCxnSpPr>
            <a:stCxn id="19" idx="2"/>
            <a:endCxn id="18" idx="0"/>
          </p:cNvCxnSpPr>
          <p:nvPr/>
        </p:nvCxnSpPr>
        <p:spPr bwMode="auto">
          <a:xfrm rot="16200000" flipH="1">
            <a:off x="8519106" y="2194384"/>
            <a:ext cx="735013" cy="1141413"/>
          </a:xfrm>
          <a:prstGeom prst="bentConnector3">
            <a:avLst>
              <a:gd name="adj1" fmla="val 73397"/>
            </a:avLst>
          </a:prstGeom>
          <a:ln w="9525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Elbow Connector 37"/>
          <p:cNvCxnSpPr>
            <a:stCxn id="17" idx="2"/>
            <a:endCxn id="83" idx="0"/>
          </p:cNvCxnSpPr>
          <p:nvPr/>
        </p:nvCxnSpPr>
        <p:spPr bwMode="auto">
          <a:xfrm rot="5400000">
            <a:off x="4513050" y="2688890"/>
            <a:ext cx="465138" cy="2441575"/>
          </a:xfrm>
          <a:prstGeom prst="bentConnector3">
            <a:avLst>
              <a:gd name="adj1" fmla="val 50000"/>
            </a:avLst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Elbow Connector 38"/>
          <p:cNvCxnSpPr>
            <a:stCxn id="17" idx="2"/>
            <a:endCxn id="84" idx="0"/>
          </p:cNvCxnSpPr>
          <p:nvPr/>
        </p:nvCxnSpPr>
        <p:spPr bwMode="auto">
          <a:xfrm rot="5400000">
            <a:off x="5364744" y="3538996"/>
            <a:ext cx="463550" cy="739775"/>
          </a:xfrm>
          <a:prstGeom prst="bentConnector3">
            <a:avLst>
              <a:gd name="adj1" fmla="val 50000"/>
            </a:avLst>
          </a:prstGeom>
          <a:ln w="127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Elbow Connector 39"/>
          <p:cNvCxnSpPr>
            <a:stCxn id="17" idx="2"/>
            <a:endCxn id="85" idx="0"/>
          </p:cNvCxnSpPr>
          <p:nvPr/>
        </p:nvCxnSpPr>
        <p:spPr bwMode="auto">
          <a:xfrm rot="16200000" flipH="1">
            <a:off x="7064956" y="2578559"/>
            <a:ext cx="473075" cy="2670175"/>
          </a:xfrm>
          <a:prstGeom prst="bentConnector3">
            <a:avLst>
              <a:gd name="adj1" fmla="val 48658"/>
            </a:avLst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Line 44"/>
          <p:cNvSpPr>
            <a:spLocks noChangeShapeType="1"/>
          </p:cNvSpPr>
          <p:nvPr/>
        </p:nvSpPr>
        <p:spPr bwMode="auto">
          <a:xfrm>
            <a:off x="3039056" y="4589922"/>
            <a:ext cx="0" cy="172561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Rectangle 49"/>
          <p:cNvSpPr>
            <a:spLocks noChangeArrowheads="1"/>
          </p:cNvSpPr>
          <p:nvPr/>
        </p:nvSpPr>
        <p:spPr bwMode="auto">
          <a:xfrm>
            <a:off x="3178756" y="5167772"/>
            <a:ext cx="263525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 Narrow" panose="020B0606020202030204" pitchFamily="34" charset="0"/>
              </a:rPr>
              <a:t>HVAC </a:t>
            </a:r>
            <a:endParaRPr lang="en-US" altLang="en-US" sz="800">
              <a:solidFill>
                <a:srgbClr val="0000FF"/>
              </a:solidFill>
              <a:latin typeface="Arial Narrow" panose="020B0606020202030204" pitchFamily="34" charset="0"/>
            </a:endParaRPr>
          </a:p>
        </p:txBody>
      </p:sp>
      <p:sp>
        <p:nvSpPr>
          <p:cNvPr id="43" name="Rectangle 56"/>
          <p:cNvSpPr>
            <a:spLocks noChangeArrowheads="1"/>
          </p:cNvSpPr>
          <p:nvPr/>
        </p:nvSpPr>
        <p:spPr bwMode="auto">
          <a:xfrm>
            <a:off x="3169231" y="4650247"/>
            <a:ext cx="912813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 Narrow" panose="020B0606020202030204" pitchFamily="34" charset="0"/>
              </a:rPr>
              <a:t>Civil / Structural </a:t>
            </a:r>
            <a:endParaRPr lang="en-US" altLang="en-US" sz="800">
              <a:solidFill>
                <a:srgbClr val="0000FF"/>
              </a:solidFill>
              <a:latin typeface="Arial Narrow" panose="020B0606020202030204" pitchFamily="34" charset="0"/>
            </a:endParaRPr>
          </a:p>
        </p:txBody>
      </p:sp>
      <p:sp>
        <p:nvSpPr>
          <p:cNvPr id="44" name="Rectangle 49"/>
          <p:cNvSpPr>
            <a:spLocks noChangeArrowheads="1"/>
          </p:cNvSpPr>
          <p:nvPr/>
        </p:nvSpPr>
        <p:spPr bwMode="auto">
          <a:xfrm>
            <a:off x="3177169" y="5001084"/>
            <a:ext cx="373062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Arial Narrow" panose="020B0606020202030204" pitchFamily="34" charset="0"/>
              </a:rPr>
              <a:t>Electrical</a:t>
            </a:r>
          </a:p>
        </p:txBody>
      </p:sp>
      <p:cxnSp>
        <p:nvCxnSpPr>
          <p:cNvPr id="45" name="Straight Connector 2"/>
          <p:cNvCxnSpPr>
            <a:cxnSpLocks noChangeShapeType="1"/>
          </p:cNvCxnSpPr>
          <p:nvPr/>
        </p:nvCxnSpPr>
        <p:spPr bwMode="auto">
          <a:xfrm>
            <a:off x="3039056" y="4721684"/>
            <a:ext cx="920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" name="Straight Connector 135"/>
          <p:cNvCxnSpPr>
            <a:cxnSpLocks noChangeShapeType="1"/>
          </p:cNvCxnSpPr>
          <p:nvPr/>
        </p:nvCxnSpPr>
        <p:spPr bwMode="auto">
          <a:xfrm>
            <a:off x="3034294" y="5061409"/>
            <a:ext cx="920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" name="Straight Connector 136"/>
          <p:cNvCxnSpPr>
            <a:cxnSpLocks noChangeShapeType="1"/>
          </p:cNvCxnSpPr>
          <p:nvPr/>
        </p:nvCxnSpPr>
        <p:spPr bwMode="auto">
          <a:xfrm>
            <a:off x="3034294" y="5237622"/>
            <a:ext cx="920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Straight Connector 137"/>
          <p:cNvCxnSpPr>
            <a:cxnSpLocks noChangeShapeType="1"/>
          </p:cNvCxnSpPr>
          <p:nvPr/>
        </p:nvCxnSpPr>
        <p:spPr bwMode="auto">
          <a:xfrm>
            <a:off x="3034294" y="5885322"/>
            <a:ext cx="920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" name="Straight Connector 138"/>
          <p:cNvCxnSpPr>
            <a:cxnSpLocks noChangeShapeType="1"/>
          </p:cNvCxnSpPr>
          <p:nvPr/>
        </p:nvCxnSpPr>
        <p:spPr bwMode="auto">
          <a:xfrm>
            <a:off x="3039056" y="6090109"/>
            <a:ext cx="920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" name="Straight Connector 139"/>
          <p:cNvCxnSpPr>
            <a:cxnSpLocks noChangeShapeType="1"/>
          </p:cNvCxnSpPr>
          <p:nvPr/>
        </p:nvCxnSpPr>
        <p:spPr bwMode="auto">
          <a:xfrm>
            <a:off x="3043819" y="5669422"/>
            <a:ext cx="920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" name="Straight Connector 136"/>
          <p:cNvCxnSpPr>
            <a:cxnSpLocks noChangeShapeType="1"/>
          </p:cNvCxnSpPr>
          <p:nvPr/>
        </p:nvCxnSpPr>
        <p:spPr bwMode="auto">
          <a:xfrm>
            <a:off x="3034294" y="5453522"/>
            <a:ext cx="920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2" name="Rectangle 49"/>
          <p:cNvSpPr>
            <a:spLocks noChangeArrowheads="1"/>
          </p:cNvSpPr>
          <p:nvPr/>
        </p:nvSpPr>
        <p:spPr bwMode="auto">
          <a:xfrm>
            <a:off x="3177169" y="4818522"/>
            <a:ext cx="515937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Arial Narrow" panose="020B0606020202030204" pitchFamily="34" charset="0"/>
              </a:rPr>
              <a:t>Architectural</a:t>
            </a:r>
          </a:p>
        </p:txBody>
      </p:sp>
      <p:cxnSp>
        <p:nvCxnSpPr>
          <p:cNvPr id="53" name="Straight Connector 135"/>
          <p:cNvCxnSpPr>
            <a:cxnSpLocks noChangeShapeType="1"/>
          </p:cNvCxnSpPr>
          <p:nvPr/>
        </p:nvCxnSpPr>
        <p:spPr bwMode="auto">
          <a:xfrm>
            <a:off x="3037469" y="4888372"/>
            <a:ext cx="920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4" name="Rectangle 49"/>
          <p:cNvSpPr>
            <a:spLocks noChangeArrowheads="1"/>
          </p:cNvSpPr>
          <p:nvPr/>
        </p:nvSpPr>
        <p:spPr bwMode="auto">
          <a:xfrm>
            <a:off x="3156531" y="6032959"/>
            <a:ext cx="766763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 Narrow" panose="020B0606020202030204" pitchFamily="34" charset="0"/>
              </a:rPr>
              <a:t>Kitchen Equipment</a:t>
            </a:r>
            <a:endParaRPr lang="en-US" altLang="en-US" sz="800">
              <a:solidFill>
                <a:srgbClr val="0000FF"/>
              </a:solidFill>
              <a:latin typeface="Arial Narrow" panose="020B0606020202030204" pitchFamily="34" charset="0"/>
            </a:endParaRPr>
          </a:p>
        </p:txBody>
      </p:sp>
      <p:sp>
        <p:nvSpPr>
          <p:cNvPr id="55" name="Rectangle 49"/>
          <p:cNvSpPr>
            <a:spLocks noChangeArrowheads="1"/>
          </p:cNvSpPr>
          <p:nvPr/>
        </p:nvSpPr>
        <p:spPr bwMode="auto">
          <a:xfrm>
            <a:off x="3159706" y="6250447"/>
            <a:ext cx="887413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 Narrow" panose="020B0606020202030204" pitchFamily="34" charset="0"/>
              </a:rPr>
              <a:t>Audio-Video Systems </a:t>
            </a:r>
            <a:endParaRPr lang="en-US" altLang="en-US" sz="800">
              <a:solidFill>
                <a:srgbClr val="0000FF"/>
              </a:solidFill>
              <a:latin typeface="Arial Narrow" panose="020B0606020202030204" pitchFamily="34" charset="0"/>
            </a:endParaRPr>
          </a:p>
        </p:txBody>
      </p:sp>
      <p:sp>
        <p:nvSpPr>
          <p:cNvPr id="56" name="Rectangle 60"/>
          <p:cNvSpPr>
            <a:spLocks noChangeArrowheads="1"/>
          </p:cNvSpPr>
          <p:nvPr/>
        </p:nvSpPr>
        <p:spPr bwMode="auto">
          <a:xfrm>
            <a:off x="3154944" y="5604334"/>
            <a:ext cx="1071562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 Narrow" panose="020B0606020202030204" pitchFamily="34" charset="0"/>
              </a:rPr>
              <a:t>Tele/Data/ CCTV/PA etc.</a:t>
            </a:r>
            <a:endParaRPr lang="en-US" altLang="en-US" sz="800">
              <a:solidFill>
                <a:srgbClr val="0000FF"/>
              </a:solidFill>
              <a:latin typeface="Arial Narrow" panose="020B0606020202030204" pitchFamily="34" charset="0"/>
            </a:endParaRPr>
          </a:p>
        </p:txBody>
      </p:sp>
      <p:sp>
        <p:nvSpPr>
          <p:cNvPr id="57" name="Line 44"/>
          <p:cNvSpPr>
            <a:spLocks noChangeShapeType="1"/>
          </p:cNvSpPr>
          <p:nvPr/>
        </p:nvSpPr>
        <p:spPr bwMode="auto">
          <a:xfrm>
            <a:off x="4731331" y="4602622"/>
            <a:ext cx="0" cy="14541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" name="Rectangle 56"/>
          <p:cNvSpPr>
            <a:spLocks noChangeArrowheads="1"/>
          </p:cNvSpPr>
          <p:nvPr/>
        </p:nvSpPr>
        <p:spPr bwMode="auto">
          <a:xfrm>
            <a:off x="4861506" y="4650247"/>
            <a:ext cx="912813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 Narrow" panose="020B0606020202030204" pitchFamily="34" charset="0"/>
              </a:rPr>
              <a:t>Civil / Structural </a:t>
            </a:r>
            <a:endParaRPr lang="en-US" altLang="en-US" sz="800">
              <a:solidFill>
                <a:srgbClr val="0000FF"/>
              </a:solidFill>
              <a:latin typeface="Arial Narrow" panose="020B0606020202030204" pitchFamily="34" charset="0"/>
            </a:endParaRPr>
          </a:p>
        </p:txBody>
      </p:sp>
      <p:sp>
        <p:nvSpPr>
          <p:cNvPr id="59" name="Rectangle 66"/>
          <p:cNvSpPr>
            <a:spLocks noChangeArrowheads="1"/>
          </p:cNvSpPr>
          <p:nvPr/>
        </p:nvSpPr>
        <p:spPr bwMode="auto">
          <a:xfrm>
            <a:off x="4840869" y="6174247"/>
            <a:ext cx="950912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 Narrow" panose="020B0606020202030204" pitchFamily="34" charset="0"/>
              </a:rPr>
              <a:t> Others (Please specify)</a:t>
            </a:r>
            <a:endParaRPr lang="en-US" altLang="en-US" sz="800">
              <a:solidFill>
                <a:srgbClr val="0000FF"/>
              </a:solidFill>
              <a:latin typeface="Arial Narrow" panose="020B0606020202030204" pitchFamily="34" charset="0"/>
            </a:endParaRPr>
          </a:p>
        </p:txBody>
      </p:sp>
      <p:sp>
        <p:nvSpPr>
          <p:cNvPr id="60" name="Rectangle 49"/>
          <p:cNvSpPr>
            <a:spLocks noChangeArrowheads="1"/>
          </p:cNvSpPr>
          <p:nvPr/>
        </p:nvSpPr>
        <p:spPr bwMode="auto">
          <a:xfrm>
            <a:off x="4869444" y="4996322"/>
            <a:ext cx="373062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Arial Narrow" panose="020B0606020202030204" pitchFamily="34" charset="0"/>
              </a:rPr>
              <a:t>Electrical</a:t>
            </a:r>
          </a:p>
        </p:txBody>
      </p:sp>
      <p:cxnSp>
        <p:nvCxnSpPr>
          <p:cNvPr id="61" name="Straight Connector 2"/>
          <p:cNvCxnSpPr>
            <a:cxnSpLocks noChangeShapeType="1"/>
          </p:cNvCxnSpPr>
          <p:nvPr/>
        </p:nvCxnSpPr>
        <p:spPr bwMode="auto">
          <a:xfrm>
            <a:off x="4731331" y="4721684"/>
            <a:ext cx="920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2" name="Straight Connector 135"/>
          <p:cNvCxnSpPr>
            <a:cxnSpLocks noChangeShapeType="1"/>
          </p:cNvCxnSpPr>
          <p:nvPr/>
        </p:nvCxnSpPr>
        <p:spPr bwMode="auto">
          <a:xfrm>
            <a:off x="4726569" y="5058234"/>
            <a:ext cx="920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3" name="Straight Connector 136"/>
          <p:cNvCxnSpPr>
            <a:cxnSpLocks noChangeShapeType="1"/>
          </p:cNvCxnSpPr>
          <p:nvPr/>
        </p:nvCxnSpPr>
        <p:spPr bwMode="auto">
          <a:xfrm>
            <a:off x="4726569" y="5418597"/>
            <a:ext cx="920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" name="Straight Connector 138"/>
          <p:cNvCxnSpPr>
            <a:cxnSpLocks noChangeShapeType="1"/>
          </p:cNvCxnSpPr>
          <p:nvPr/>
        </p:nvCxnSpPr>
        <p:spPr bwMode="auto">
          <a:xfrm>
            <a:off x="4731331" y="6055184"/>
            <a:ext cx="920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" name="Straight Connector 139"/>
          <p:cNvCxnSpPr>
            <a:cxnSpLocks noChangeShapeType="1"/>
          </p:cNvCxnSpPr>
          <p:nvPr/>
        </p:nvCxnSpPr>
        <p:spPr bwMode="auto">
          <a:xfrm>
            <a:off x="4736094" y="5832934"/>
            <a:ext cx="920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Rectangle 49"/>
          <p:cNvSpPr>
            <a:spLocks noChangeArrowheads="1"/>
          </p:cNvSpPr>
          <p:nvPr/>
        </p:nvSpPr>
        <p:spPr bwMode="auto">
          <a:xfrm>
            <a:off x="4869444" y="4818522"/>
            <a:ext cx="515937" cy="12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Arial Narrow" panose="020B0606020202030204" pitchFamily="34" charset="0"/>
              </a:rPr>
              <a:t>Architectural</a:t>
            </a:r>
          </a:p>
        </p:txBody>
      </p:sp>
      <p:cxnSp>
        <p:nvCxnSpPr>
          <p:cNvPr id="67" name="Straight Connector 135"/>
          <p:cNvCxnSpPr>
            <a:cxnSpLocks noChangeShapeType="1"/>
          </p:cNvCxnSpPr>
          <p:nvPr/>
        </p:nvCxnSpPr>
        <p:spPr bwMode="auto">
          <a:xfrm>
            <a:off x="4729744" y="4888372"/>
            <a:ext cx="920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8" name="Rectangle 49"/>
          <p:cNvSpPr>
            <a:spLocks noChangeArrowheads="1"/>
          </p:cNvSpPr>
          <p:nvPr/>
        </p:nvSpPr>
        <p:spPr bwMode="auto">
          <a:xfrm>
            <a:off x="4861506" y="5975809"/>
            <a:ext cx="893763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 Narrow" panose="020B0606020202030204" pitchFamily="34" charset="0"/>
              </a:rPr>
              <a:t>Laboratory Equipment</a:t>
            </a:r>
            <a:endParaRPr lang="en-US" altLang="en-US" sz="800">
              <a:solidFill>
                <a:srgbClr val="0000FF"/>
              </a:solidFill>
              <a:latin typeface="Arial Narrow" panose="020B0606020202030204" pitchFamily="34" charset="0"/>
            </a:endParaRPr>
          </a:p>
        </p:txBody>
      </p:sp>
      <p:sp>
        <p:nvSpPr>
          <p:cNvPr id="69" name="Rectangle 60"/>
          <p:cNvSpPr>
            <a:spLocks noChangeArrowheads="1"/>
          </p:cNvSpPr>
          <p:nvPr/>
        </p:nvSpPr>
        <p:spPr bwMode="auto">
          <a:xfrm>
            <a:off x="4855156" y="5572584"/>
            <a:ext cx="1073150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 Narrow" panose="020B0606020202030204" pitchFamily="34" charset="0"/>
              </a:rPr>
              <a:t>Tele/Data/ CCTV/PA etc.</a:t>
            </a:r>
            <a:endParaRPr lang="en-US" altLang="en-US" sz="800">
              <a:solidFill>
                <a:srgbClr val="0000FF"/>
              </a:solidFill>
              <a:latin typeface="Arial Narrow" panose="020B0606020202030204" pitchFamily="34" charset="0"/>
            </a:endParaRPr>
          </a:p>
        </p:txBody>
      </p:sp>
      <p:sp>
        <p:nvSpPr>
          <p:cNvPr id="70" name="Line 44"/>
          <p:cNvSpPr>
            <a:spLocks noChangeShapeType="1"/>
          </p:cNvSpPr>
          <p:nvPr/>
        </p:nvSpPr>
        <p:spPr bwMode="auto">
          <a:xfrm>
            <a:off x="8179381" y="4640722"/>
            <a:ext cx="0" cy="14366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" name="Rectangle 49"/>
          <p:cNvSpPr>
            <a:spLocks noChangeArrowheads="1"/>
          </p:cNvSpPr>
          <p:nvPr/>
        </p:nvSpPr>
        <p:spPr bwMode="auto">
          <a:xfrm>
            <a:off x="8303206" y="5351922"/>
            <a:ext cx="239713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 Narrow" panose="020B0606020202030204" pitchFamily="34" charset="0"/>
              </a:rPr>
              <a:t>HVAC</a:t>
            </a:r>
            <a:endParaRPr lang="en-US" altLang="en-US" sz="800">
              <a:solidFill>
                <a:srgbClr val="0000FF"/>
              </a:solidFill>
              <a:latin typeface="Arial Narrow" panose="020B0606020202030204" pitchFamily="34" charset="0"/>
            </a:endParaRPr>
          </a:p>
        </p:txBody>
      </p:sp>
      <p:sp>
        <p:nvSpPr>
          <p:cNvPr id="72" name="Rectangle 56"/>
          <p:cNvSpPr>
            <a:spLocks noChangeArrowheads="1"/>
          </p:cNvSpPr>
          <p:nvPr/>
        </p:nvSpPr>
        <p:spPr bwMode="auto">
          <a:xfrm>
            <a:off x="8306381" y="4674059"/>
            <a:ext cx="912813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 Narrow" panose="020B0606020202030204" pitchFamily="34" charset="0"/>
              </a:rPr>
              <a:t>Civil / Structural  </a:t>
            </a:r>
            <a:endParaRPr lang="en-US" altLang="en-US" sz="800">
              <a:solidFill>
                <a:srgbClr val="0000FF"/>
              </a:solidFill>
              <a:latin typeface="Arial Narrow" panose="020B0606020202030204" pitchFamily="34" charset="0"/>
            </a:endParaRPr>
          </a:p>
        </p:txBody>
      </p:sp>
      <p:sp>
        <p:nvSpPr>
          <p:cNvPr id="73" name="Rectangle 66"/>
          <p:cNvSpPr>
            <a:spLocks noChangeArrowheads="1"/>
          </p:cNvSpPr>
          <p:nvPr/>
        </p:nvSpPr>
        <p:spPr bwMode="auto">
          <a:xfrm>
            <a:off x="8303206" y="6140909"/>
            <a:ext cx="952500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 Narrow" panose="020B0606020202030204" pitchFamily="34" charset="0"/>
              </a:rPr>
              <a:t> Others (Please specify)</a:t>
            </a:r>
            <a:endParaRPr lang="en-US" altLang="en-US" sz="800">
              <a:solidFill>
                <a:srgbClr val="0000FF"/>
              </a:solidFill>
              <a:latin typeface="Arial Narrow" panose="020B0606020202030204" pitchFamily="34" charset="0"/>
            </a:endParaRPr>
          </a:p>
        </p:txBody>
      </p:sp>
      <p:sp>
        <p:nvSpPr>
          <p:cNvPr id="74" name="Rectangle 49"/>
          <p:cNvSpPr>
            <a:spLocks noChangeArrowheads="1"/>
          </p:cNvSpPr>
          <p:nvPr/>
        </p:nvSpPr>
        <p:spPr bwMode="auto">
          <a:xfrm>
            <a:off x="8285744" y="5126497"/>
            <a:ext cx="1181100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Arial Narrow" panose="020B0606020202030204" pitchFamily="34" charset="0"/>
              </a:rPr>
              <a:t>Electrical</a:t>
            </a:r>
          </a:p>
        </p:txBody>
      </p:sp>
      <p:cxnSp>
        <p:nvCxnSpPr>
          <p:cNvPr id="75" name="Straight Connector 2"/>
          <p:cNvCxnSpPr>
            <a:cxnSpLocks noChangeShapeType="1"/>
          </p:cNvCxnSpPr>
          <p:nvPr/>
        </p:nvCxnSpPr>
        <p:spPr bwMode="auto">
          <a:xfrm>
            <a:off x="8176206" y="4745497"/>
            <a:ext cx="920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" name="Straight Connector 136"/>
          <p:cNvCxnSpPr>
            <a:cxnSpLocks noChangeShapeType="1"/>
          </p:cNvCxnSpPr>
          <p:nvPr/>
        </p:nvCxnSpPr>
        <p:spPr bwMode="auto">
          <a:xfrm>
            <a:off x="8177794" y="5194759"/>
            <a:ext cx="920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7" name="Straight Connector 139"/>
          <p:cNvCxnSpPr>
            <a:cxnSpLocks noChangeShapeType="1"/>
          </p:cNvCxnSpPr>
          <p:nvPr/>
        </p:nvCxnSpPr>
        <p:spPr bwMode="auto">
          <a:xfrm>
            <a:off x="8176206" y="5640847"/>
            <a:ext cx="90488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" name="Straight Connector 136"/>
          <p:cNvCxnSpPr>
            <a:cxnSpLocks noChangeShapeType="1"/>
          </p:cNvCxnSpPr>
          <p:nvPr/>
        </p:nvCxnSpPr>
        <p:spPr bwMode="auto">
          <a:xfrm>
            <a:off x="8177794" y="5423359"/>
            <a:ext cx="920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9" name="Rectangle 49"/>
          <p:cNvSpPr>
            <a:spLocks noChangeArrowheads="1"/>
          </p:cNvSpPr>
          <p:nvPr/>
        </p:nvSpPr>
        <p:spPr bwMode="auto">
          <a:xfrm>
            <a:off x="8315906" y="4826459"/>
            <a:ext cx="117157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Arial Narrow" panose="020B0606020202030204" pitchFamily="34" charset="0"/>
              </a:rPr>
              <a:t>Architectural (Roads, Paving/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Arial Narrow" panose="020B0606020202030204" pitchFamily="34" charset="0"/>
              </a:rPr>
              <a:t>Landscaping etc.)</a:t>
            </a:r>
          </a:p>
        </p:txBody>
      </p:sp>
      <p:cxnSp>
        <p:nvCxnSpPr>
          <p:cNvPr id="80" name="Straight Connector 135"/>
          <p:cNvCxnSpPr>
            <a:cxnSpLocks noChangeShapeType="1"/>
          </p:cNvCxnSpPr>
          <p:nvPr/>
        </p:nvCxnSpPr>
        <p:spPr bwMode="auto">
          <a:xfrm>
            <a:off x="8174619" y="4958222"/>
            <a:ext cx="920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1" name="Rectangle 60"/>
          <p:cNvSpPr>
            <a:spLocks noChangeArrowheads="1"/>
          </p:cNvSpPr>
          <p:nvPr/>
        </p:nvSpPr>
        <p:spPr bwMode="auto">
          <a:xfrm>
            <a:off x="8304794" y="5817059"/>
            <a:ext cx="1073150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 Narrow" panose="020B0606020202030204" pitchFamily="34" charset="0"/>
              </a:rPr>
              <a:t>Tele/Data/ CCTV/PA etc.</a:t>
            </a:r>
            <a:endParaRPr lang="en-US" altLang="en-US" sz="800">
              <a:solidFill>
                <a:srgbClr val="0000FF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82" name="Straight Connector 139"/>
          <p:cNvCxnSpPr>
            <a:cxnSpLocks noChangeShapeType="1"/>
          </p:cNvCxnSpPr>
          <p:nvPr/>
        </p:nvCxnSpPr>
        <p:spPr bwMode="auto">
          <a:xfrm>
            <a:off x="8176206" y="6074234"/>
            <a:ext cx="90488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83" name="Group 4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5834169"/>
              </p:ext>
            </p:extLst>
          </p:nvPr>
        </p:nvGraphicFramePr>
        <p:xfrm>
          <a:off x="2919994" y="4142247"/>
          <a:ext cx="1209675" cy="447675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41666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9301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9943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9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Building</a:t>
                      </a:r>
                      <a:r>
                        <a:rPr lang="en-US" sz="9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-1</a:t>
                      </a:r>
                      <a:endParaRPr lang="en-US" sz="900" b="1" kern="1200" dirty="0" smtClean="0">
                        <a:solidFill>
                          <a:schemeClr val="tx1"/>
                        </a:solidFill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82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70%</a:t>
                      </a:r>
                    </a:p>
                  </a:txBody>
                  <a:tcPr marL="0" marR="0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BG-1</a:t>
                      </a:r>
                      <a:endParaRPr kumimoji="0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84" name="Group 4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492034"/>
              </p:ext>
            </p:extLst>
          </p:nvPr>
        </p:nvGraphicFramePr>
        <p:xfrm>
          <a:off x="4621794" y="4140659"/>
          <a:ext cx="1209675" cy="458788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41666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9301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06867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900" b="1" kern="1200" dirty="0" smtClean="0"/>
                        <a:t>Building-2</a:t>
                      </a:r>
                      <a:endParaRPr lang="en-US" sz="800" b="1" kern="1200" dirty="0" smtClean="0">
                        <a:solidFill>
                          <a:schemeClr val="tx1"/>
                        </a:solidFill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5192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10%</a:t>
                      </a:r>
                    </a:p>
                  </a:txBody>
                  <a:tcPr marL="0" marR="0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BG-2</a:t>
                      </a:r>
                      <a:endParaRPr kumimoji="0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85" name="Group 4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6499994"/>
              </p:ext>
            </p:extLst>
          </p:nvPr>
        </p:nvGraphicFramePr>
        <p:xfrm>
          <a:off x="8031744" y="4150184"/>
          <a:ext cx="1209675" cy="48260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41666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9301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2946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9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Building</a:t>
                      </a:r>
                      <a:r>
                        <a:rPr lang="en-US" sz="9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-4</a:t>
                      </a:r>
                      <a:endParaRPr lang="en-US" sz="800" b="1" kern="1200" dirty="0" smtClean="0">
                        <a:solidFill>
                          <a:schemeClr val="tx1"/>
                        </a:solidFill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531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15%</a:t>
                      </a:r>
                    </a:p>
                  </a:txBody>
                  <a:tcPr marL="0" marR="0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</a:rPr>
                        <a:t>BG-3</a:t>
                      </a:r>
                      <a:endParaRPr kumimoji="0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86" name="Down Arrow 145"/>
          <p:cNvSpPr>
            <a:spLocks noChangeArrowheads="1"/>
          </p:cNvSpPr>
          <p:nvPr/>
        </p:nvSpPr>
        <p:spPr bwMode="auto">
          <a:xfrm>
            <a:off x="9465256" y="3640597"/>
            <a:ext cx="107950" cy="106362"/>
          </a:xfrm>
          <a:prstGeom prst="downArrow">
            <a:avLst>
              <a:gd name="adj1" fmla="val 50000"/>
              <a:gd name="adj2" fmla="val 50000"/>
            </a:avLst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257911" tIns="128949" rIns="257911" bIns="128949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90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87" name="Rectangle 15"/>
          <p:cNvSpPr>
            <a:spLocks noChangeArrowheads="1"/>
          </p:cNvSpPr>
          <p:nvPr/>
        </p:nvSpPr>
        <p:spPr bwMode="auto">
          <a:xfrm>
            <a:off x="8582606" y="3688222"/>
            <a:ext cx="1751013" cy="23018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900" dirty="0" smtClean="0">
                <a:solidFill>
                  <a:srgbClr val="0000FF"/>
                </a:solidFill>
                <a:latin typeface="Arial" panose="020B0604020202020204" pitchFamily="34" charset="0"/>
              </a:rPr>
              <a:t>Refer Page 2 of 2 for details.</a:t>
            </a:r>
          </a:p>
        </p:txBody>
      </p:sp>
      <p:sp>
        <p:nvSpPr>
          <p:cNvPr id="88" name="Rectangle 49"/>
          <p:cNvSpPr>
            <a:spLocks noChangeArrowheads="1"/>
          </p:cNvSpPr>
          <p:nvPr/>
        </p:nvSpPr>
        <p:spPr bwMode="auto">
          <a:xfrm>
            <a:off x="3169231" y="5820234"/>
            <a:ext cx="844550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 Narrow" panose="020B0606020202030204" pitchFamily="34" charset="0"/>
              </a:rPr>
              <a:t>Mechanical &amp; Piping </a:t>
            </a:r>
            <a:endParaRPr lang="en-US" altLang="en-US" sz="800">
              <a:solidFill>
                <a:srgbClr val="0000FF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89" name="Straight Connector 138"/>
          <p:cNvCxnSpPr>
            <a:cxnSpLocks noChangeShapeType="1"/>
          </p:cNvCxnSpPr>
          <p:nvPr/>
        </p:nvCxnSpPr>
        <p:spPr bwMode="auto">
          <a:xfrm>
            <a:off x="3032706" y="6312359"/>
            <a:ext cx="920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0" name="Straight Connector 136"/>
          <p:cNvCxnSpPr>
            <a:cxnSpLocks noChangeShapeType="1"/>
          </p:cNvCxnSpPr>
          <p:nvPr/>
        </p:nvCxnSpPr>
        <p:spPr bwMode="auto">
          <a:xfrm>
            <a:off x="4732919" y="5231272"/>
            <a:ext cx="920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1" name="Straight Connector 139"/>
          <p:cNvCxnSpPr>
            <a:cxnSpLocks noChangeShapeType="1"/>
          </p:cNvCxnSpPr>
          <p:nvPr/>
        </p:nvCxnSpPr>
        <p:spPr bwMode="auto">
          <a:xfrm>
            <a:off x="4742444" y="5632909"/>
            <a:ext cx="920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" name="Rectangle 49"/>
          <p:cNvSpPr>
            <a:spLocks noChangeArrowheads="1"/>
          </p:cNvSpPr>
          <p:nvPr/>
        </p:nvSpPr>
        <p:spPr bwMode="auto">
          <a:xfrm>
            <a:off x="4869444" y="5155072"/>
            <a:ext cx="239712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 Narrow" panose="020B0606020202030204" pitchFamily="34" charset="0"/>
              </a:rPr>
              <a:t>HVAC</a:t>
            </a:r>
            <a:endParaRPr lang="en-US" altLang="en-US" sz="800">
              <a:solidFill>
                <a:srgbClr val="0000FF"/>
              </a:solidFill>
              <a:latin typeface="Arial Narrow" panose="020B0606020202030204" pitchFamily="34" charset="0"/>
            </a:endParaRPr>
          </a:p>
        </p:txBody>
      </p:sp>
      <p:sp>
        <p:nvSpPr>
          <p:cNvPr id="93" name="Rectangle 49"/>
          <p:cNvSpPr>
            <a:spLocks noChangeArrowheads="1"/>
          </p:cNvSpPr>
          <p:nvPr/>
        </p:nvSpPr>
        <p:spPr bwMode="auto">
          <a:xfrm>
            <a:off x="4864681" y="5780547"/>
            <a:ext cx="844550" cy="12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 Narrow" panose="020B0606020202030204" pitchFamily="34" charset="0"/>
              </a:rPr>
              <a:t>Mechanical &amp; Piping </a:t>
            </a:r>
            <a:endParaRPr lang="en-US" altLang="en-US" sz="800">
              <a:solidFill>
                <a:srgbClr val="0000FF"/>
              </a:solidFill>
              <a:latin typeface="Arial Narrow" panose="020B0606020202030204" pitchFamily="34" charset="0"/>
            </a:endParaRPr>
          </a:p>
        </p:txBody>
      </p:sp>
      <p:sp>
        <p:nvSpPr>
          <p:cNvPr id="94" name="Rectangle 49"/>
          <p:cNvSpPr>
            <a:spLocks noChangeArrowheads="1"/>
          </p:cNvSpPr>
          <p:nvPr/>
        </p:nvSpPr>
        <p:spPr bwMode="auto">
          <a:xfrm>
            <a:off x="8303206" y="5969459"/>
            <a:ext cx="844550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 Narrow" panose="020B0606020202030204" pitchFamily="34" charset="0"/>
              </a:rPr>
              <a:t>Mechanical &amp; Piping </a:t>
            </a:r>
            <a:endParaRPr lang="en-US" altLang="en-US" sz="800">
              <a:solidFill>
                <a:srgbClr val="0000FF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95" name="Straight Connector 136"/>
          <p:cNvCxnSpPr>
            <a:cxnSpLocks noChangeShapeType="1"/>
          </p:cNvCxnSpPr>
          <p:nvPr/>
        </p:nvCxnSpPr>
        <p:spPr bwMode="auto">
          <a:xfrm>
            <a:off x="8176206" y="5864684"/>
            <a:ext cx="920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6" name="TextBox 1"/>
          <p:cNvSpPr txBox="1">
            <a:spLocks noChangeArrowheads="1"/>
          </p:cNvSpPr>
          <p:nvPr/>
        </p:nvSpPr>
        <p:spPr bwMode="auto">
          <a:xfrm>
            <a:off x="3070806" y="5283659"/>
            <a:ext cx="13446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Arial Narrow" panose="020B0606020202030204" pitchFamily="34" charset="0"/>
              </a:rPr>
              <a:t>Fire, Smoke Gas Detection and Alarm</a:t>
            </a:r>
            <a:endParaRPr lang="en-GB" altLang="en-US" sz="800">
              <a:latin typeface="Arial Narrow" panose="020B0606020202030204" pitchFamily="34" charset="0"/>
            </a:endParaRPr>
          </a:p>
        </p:txBody>
      </p:sp>
      <p:sp>
        <p:nvSpPr>
          <p:cNvPr id="97" name="TextBox 142"/>
          <p:cNvSpPr txBox="1">
            <a:spLocks noChangeArrowheads="1"/>
          </p:cNvSpPr>
          <p:nvPr/>
        </p:nvSpPr>
        <p:spPr bwMode="auto">
          <a:xfrm>
            <a:off x="4777369" y="5239209"/>
            <a:ext cx="1343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Arial Narrow" panose="020B0606020202030204" pitchFamily="34" charset="0"/>
              </a:rPr>
              <a:t>Fire, Smoke Gas Detection and Alarm</a:t>
            </a:r>
            <a:endParaRPr lang="en-GB" altLang="en-US" sz="800">
              <a:latin typeface="Arial Narrow" panose="020B0606020202030204" pitchFamily="34" charset="0"/>
            </a:endParaRPr>
          </a:p>
        </p:txBody>
      </p:sp>
      <p:sp>
        <p:nvSpPr>
          <p:cNvPr id="98" name="TextBox 147"/>
          <p:cNvSpPr txBox="1">
            <a:spLocks noChangeArrowheads="1"/>
          </p:cNvSpPr>
          <p:nvPr/>
        </p:nvSpPr>
        <p:spPr bwMode="auto">
          <a:xfrm>
            <a:off x="8204781" y="5485272"/>
            <a:ext cx="13430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Arial Narrow" panose="020B0606020202030204" pitchFamily="34" charset="0"/>
              </a:rPr>
              <a:t>Fire, Smoke Gas Detection and Alarm</a:t>
            </a:r>
            <a:endParaRPr lang="en-GB" altLang="en-US" sz="800">
              <a:latin typeface="Arial Narrow" panose="020B0606020202030204" pitchFamily="34" charset="0"/>
            </a:endParaRPr>
          </a:p>
        </p:txBody>
      </p:sp>
      <p:cxnSp>
        <p:nvCxnSpPr>
          <p:cNvPr id="99" name="Elbow Connector 98"/>
          <p:cNvCxnSpPr>
            <a:stCxn id="6" idx="2"/>
            <a:endCxn id="100" idx="0"/>
          </p:cNvCxnSpPr>
          <p:nvPr/>
        </p:nvCxnSpPr>
        <p:spPr bwMode="auto">
          <a:xfrm rot="5400000">
            <a:off x="4211425" y="217153"/>
            <a:ext cx="225425" cy="3122613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00" name="Group 4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2062669"/>
              </p:ext>
            </p:extLst>
          </p:nvPr>
        </p:nvGraphicFramePr>
        <p:xfrm>
          <a:off x="1935744" y="1891172"/>
          <a:ext cx="1655762" cy="500062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57031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854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9429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000" b="1" kern="1200" dirty="0" smtClean="0"/>
                        <a:t>Engineering</a:t>
                      </a:r>
                      <a:endParaRPr lang="en-US" sz="1000" b="1" i="0" kern="1200" dirty="0" smtClean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solidFill>
                      <a:srgbClr val="FFFFCC">
                        <a:alpha val="5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057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</a:rPr>
                        <a:t>5%</a:t>
                      </a:r>
                    </a:p>
                  </a:txBody>
                  <a:tcPr marL="0" marR="0" marT="0" marB="0" anchor="ctr" horzOverflow="overflow"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cs typeface="+mn-cs"/>
                        </a:rPr>
                        <a:t>E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 Narrow" panose="020B0606020202030204" pitchFamily="34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101" name="Group 4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427264"/>
              </p:ext>
            </p:extLst>
          </p:nvPr>
        </p:nvGraphicFramePr>
        <p:xfrm>
          <a:off x="3202569" y="2665872"/>
          <a:ext cx="1441450" cy="403225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49649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4495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0772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000" b="1" kern="1200" dirty="0" smtClean="0"/>
                        <a:t>Subcontractor Service </a:t>
                      </a:r>
                      <a:endParaRPr lang="en-US" sz="1000" b="1" kern="1200" dirty="0" smtClean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0" marR="0" marT="0" marB="0" anchor="ctr" horzOverflow="overflow">
                    <a:solidFill>
                      <a:srgbClr val="FFFFCC">
                        <a:alpha val="5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550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</a:rPr>
                        <a:t>0%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 Narrow" panose="020B0606020202030204" pitchFamily="34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  <a:cs typeface="Arial" charset="0"/>
                        </a:rPr>
                        <a:t>S</a:t>
                      </a:r>
                    </a:p>
                  </a:txBody>
                  <a:tcPr marL="0" marR="0" marT="0" marB="0" anchor="ctr" horzOverflow="overflow"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cxnSp>
        <p:nvCxnSpPr>
          <p:cNvPr id="102" name="Elbow Connector 101"/>
          <p:cNvCxnSpPr>
            <a:stCxn id="19" idx="2"/>
            <a:endCxn id="17" idx="0"/>
          </p:cNvCxnSpPr>
          <p:nvPr/>
        </p:nvCxnSpPr>
        <p:spPr bwMode="auto">
          <a:xfrm rot="5400000">
            <a:off x="6753806" y="1610184"/>
            <a:ext cx="774700" cy="2349500"/>
          </a:xfrm>
          <a:prstGeom prst="bentConnector3">
            <a:avLst>
              <a:gd name="adj1" fmla="val 69425"/>
            </a:avLst>
          </a:prstGeom>
          <a:ln w="9525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Elbow Connector 102"/>
          <p:cNvCxnSpPr>
            <a:stCxn id="100" idx="2"/>
            <a:endCxn id="101" idx="0"/>
          </p:cNvCxnSpPr>
          <p:nvPr/>
        </p:nvCxnSpPr>
        <p:spPr bwMode="auto">
          <a:xfrm rot="16200000" flipH="1">
            <a:off x="3205744" y="1948321"/>
            <a:ext cx="274638" cy="1160463"/>
          </a:xfrm>
          <a:prstGeom prst="bentConnector3">
            <a:avLst>
              <a:gd name="adj1" fmla="val 50000"/>
            </a:avLst>
          </a:prstGeom>
          <a:ln w="9525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4" name="Text Box 78"/>
          <p:cNvSpPr txBox="1">
            <a:spLocks noChangeArrowheads="1"/>
          </p:cNvSpPr>
          <p:nvPr/>
        </p:nvSpPr>
        <p:spPr bwMode="auto">
          <a:xfrm>
            <a:off x="3615319" y="3070684"/>
            <a:ext cx="1617662" cy="74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27432" rIns="0" bIns="27432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1000" i="1">
                <a:solidFill>
                  <a:srgbClr val="C00000"/>
                </a:solidFill>
              </a:rPr>
              <a:t>(EPC Contractor to list the Services / Discipline intended to be subcontracted)</a:t>
            </a:r>
          </a:p>
          <a:p>
            <a:pPr algn="ctr">
              <a:spcBef>
                <a:spcPct val="50000"/>
              </a:spcBef>
              <a:buFontTx/>
              <a:buNone/>
            </a:pPr>
            <a:endParaRPr lang="en-GB" altLang="en-US" sz="1000" b="0" i="1">
              <a:solidFill>
                <a:srgbClr val="C00000"/>
              </a:solidFill>
            </a:endParaRPr>
          </a:p>
        </p:txBody>
      </p:sp>
      <p:sp>
        <p:nvSpPr>
          <p:cNvPr id="105" name="Line 2212"/>
          <p:cNvSpPr>
            <a:spLocks noChangeShapeType="1"/>
          </p:cNvSpPr>
          <p:nvPr/>
        </p:nvSpPr>
        <p:spPr bwMode="auto">
          <a:xfrm>
            <a:off x="3450219" y="3059572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57911" tIns="128949" rIns="257911" bIns="128949" anchor="ctr"/>
          <a:lstStyle/>
          <a:p>
            <a:endParaRPr lang="en-US"/>
          </a:p>
        </p:txBody>
      </p:sp>
      <p:sp>
        <p:nvSpPr>
          <p:cNvPr id="106" name="Line 2213"/>
          <p:cNvSpPr>
            <a:spLocks noChangeShapeType="1"/>
          </p:cNvSpPr>
          <p:nvPr/>
        </p:nvSpPr>
        <p:spPr bwMode="auto">
          <a:xfrm>
            <a:off x="3451806" y="3272297"/>
            <a:ext cx="1365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57911" tIns="128949" rIns="257911" bIns="128949" anchor="ctr"/>
          <a:lstStyle/>
          <a:p>
            <a:endParaRPr lang="en-US"/>
          </a:p>
        </p:txBody>
      </p:sp>
      <p:sp>
        <p:nvSpPr>
          <p:cNvPr id="107" name="Line 2213"/>
          <p:cNvSpPr>
            <a:spLocks noChangeShapeType="1"/>
          </p:cNvSpPr>
          <p:nvPr/>
        </p:nvSpPr>
        <p:spPr bwMode="auto">
          <a:xfrm>
            <a:off x="3445456" y="3510422"/>
            <a:ext cx="1365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57911" tIns="128949" rIns="257911" bIns="128949" anchor="ctr"/>
          <a:lstStyle/>
          <a:p>
            <a:endParaRPr lang="en-US"/>
          </a:p>
        </p:txBody>
      </p:sp>
      <p:graphicFrame>
        <p:nvGraphicFramePr>
          <p:cNvPr id="108" name="Group 4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012863"/>
              </p:ext>
            </p:extLst>
          </p:nvPr>
        </p:nvGraphicFramePr>
        <p:xfrm>
          <a:off x="6333119" y="4148597"/>
          <a:ext cx="1209675" cy="458787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41666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9301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0686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9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Common area works </a:t>
                      </a:r>
                      <a:endParaRPr lang="en-US" sz="900" b="1" kern="1200" dirty="0" smtClean="0">
                        <a:solidFill>
                          <a:schemeClr val="tx1"/>
                        </a:solidFill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5192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5%</a:t>
                      </a:r>
                    </a:p>
                  </a:txBody>
                  <a:tcPr marL="0" marR="0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COM</a:t>
                      </a:r>
                    </a:p>
                  </a:txBody>
                  <a:tcPr marL="0" marR="0" marT="0" marB="0" anchor="ctr" anchorCtr="1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cxnSp>
        <p:nvCxnSpPr>
          <p:cNvPr id="109" name="Elbow Connector 108"/>
          <p:cNvCxnSpPr>
            <a:stCxn id="17" idx="2"/>
            <a:endCxn id="108" idx="0"/>
          </p:cNvCxnSpPr>
          <p:nvPr/>
        </p:nvCxnSpPr>
        <p:spPr bwMode="auto">
          <a:xfrm rot="16200000" flipH="1">
            <a:off x="6216437" y="3427078"/>
            <a:ext cx="471488" cy="971550"/>
          </a:xfrm>
          <a:prstGeom prst="bentConnector3">
            <a:avLst>
              <a:gd name="adj1" fmla="val 50000"/>
            </a:avLst>
          </a:prstGeom>
          <a:ln w="127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0" name="Rectangle 56"/>
          <p:cNvSpPr>
            <a:spLocks noChangeArrowheads="1"/>
          </p:cNvSpPr>
          <p:nvPr/>
        </p:nvSpPr>
        <p:spPr bwMode="auto">
          <a:xfrm>
            <a:off x="6588706" y="4658184"/>
            <a:ext cx="912813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 Narrow" panose="020B0606020202030204" pitchFamily="34" charset="0"/>
              </a:rPr>
              <a:t>Civil / Structural </a:t>
            </a:r>
            <a:endParaRPr lang="en-US" altLang="en-US" sz="800">
              <a:solidFill>
                <a:srgbClr val="0000FF"/>
              </a:solidFill>
              <a:latin typeface="Arial Narrow" panose="020B0606020202030204" pitchFamily="34" charset="0"/>
            </a:endParaRPr>
          </a:p>
        </p:txBody>
      </p:sp>
      <p:sp>
        <p:nvSpPr>
          <p:cNvPr id="111" name="Rectangle 49"/>
          <p:cNvSpPr>
            <a:spLocks noChangeArrowheads="1"/>
          </p:cNvSpPr>
          <p:nvPr/>
        </p:nvSpPr>
        <p:spPr bwMode="auto">
          <a:xfrm>
            <a:off x="6596644" y="5004259"/>
            <a:ext cx="373062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Arial Narrow" panose="020B0606020202030204" pitchFamily="34" charset="0"/>
              </a:rPr>
              <a:t>Electrical</a:t>
            </a:r>
          </a:p>
        </p:txBody>
      </p:sp>
      <p:cxnSp>
        <p:nvCxnSpPr>
          <p:cNvPr id="112" name="Straight Connector 2"/>
          <p:cNvCxnSpPr>
            <a:cxnSpLocks noChangeShapeType="1"/>
          </p:cNvCxnSpPr>
          <p:nvPr/>
        </p:nvCxnSpPr>
        <p:spPr bwMode="auto">
          <a:xfrm>
            <a:off x="6458531" y="4729622"/>
            <a:ext cx="920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3" name="Straight Connector 135"/>
          <p:cNvCxnSpPr>
            <a:cxnSpLocks noChangeShapeType="1"/>
          </p:cNvCxnSpPr>
          <p:nvPr/>
        </p:nvCxnSpPr>
        <p:spPr bwMode="auto">
          <a:xfrm>
            <a:off x="6453769" y="5066172"/>
            <a:ext cx="920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4" name="Rectangle 49"/>
          <p:cNvSpPr>
            <a:spLocks noChangeArrowheads="1"/>
          </p:cNvSpPr>
          <p:nvPr/>
        </p:nvSpPr>
        <p:spPr bwMode="auto">
          <a:xfrm>
            <a:off x="6596644" y="4826459"/>
            <a:ext cx="515937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Arial Narrow" panose="020B0606020202030204" pitchFamily="34" charset="0"/>
              </a:rPr>
              <a:t>Architectural</a:t>
            </a:r>
          </a:p>
        </p:txBody>
      </p:sp>
      <p:cxnSp>
        <p:nvCxnSpPr>
          <p:cNvPr id="115" name="Straight Connector 135"/>
          <p:cNvCxnSpPr>
            <a:cxnSpLocks noChangeShapeType="1"/>
          </p:cNvCxnSpPr>
          <p:nvPr/>
        </p:nvCxnSpPr>
        <p:spPr bwMode="auto">
          <a:xfrm>
            <a:off x="6456944" y="4896309"/>
            <a:ext cx="920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6" name="Line 44"/>
          <p:cNvSpPr>
            <a:spLocks noChangeShapeType="1"/>
          </p:cNvSpPr>
          <p:nvPr/>
        </p:nvSpPr>
        <p:spPr bwMode="auto">
          <a:xfrm>
            <a:off x="6458531" y="4604209"/>
            <a:ext cx="0" cy="46513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" name="Rectangle 66"/>
          <p:cNvSpPr>
            <a:spLocks noChangeArrowheads="1"/>
          </p:cNvSpPr>
          <p:nvPr/>
        </p:nvSpPr>
        <p:spPr bwMode="auto">
          <a:xfrm>
            <a:off x="6574419" y="5159834"/>
            <a:ext cx="950912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 Narrow" panose="020B0606020202030204" pitchFamily="34" charset="0"/>
              </a:rPr>
              <a:t> Others (Please specify)</a:t>
            </a:r>
            <a:endParaRPr lang="en-US" altLang="en-US" sz="800">
              <a:solidFill>
                <a:srgbClr val="0000FF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351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6117" y="563084"/>
            <a:ext cx="10015471" cy="397344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sz="1800" b="1" dirty="0" smtClean="0"/>
              <a:t>WORK BREAK DOWN STRUCTURE </a:t>
            </a:r>
            <a:endParaRPr lang="en-US" sz="1800" b="1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086118" y="960428"/>
            <a:ext cx="9144000" cy="3973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dirty="0" smtClean="0"/>
              <a:t>PROJECT TITLE : </a:t>
            </a:r>
            <a:endParaRPr lang="en-US" sz="1800" b="1" dirty="0"/>
          </a:p>
        </p:txBody>
      </p:sp>
      <p:sp>
        <p:nvSpPr>
          <p:cNvPr id="118" name="Line 3"/>
          <p:cNvSpPr>
            <a:spLocks noChangeShapeType="1"/>
          </p:cNvSpPr>
          <p:nvPr/>
        </p:nvSpPr>
        <p:spPr bwMode="auto">
          <a:xfrm>
            <a:off x="1936750" y="1889125"/>
            <a:ext cx="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257911" tIns="128949" rIns="257911" bIns="128949" anchor="ctr"/>
          <a:lstStyle/>
          <a:p>
            <a:endParaRPr lang="en-US"/>
          </a:p>
        </p:txBody>
      </p:sp>
      <p:graphicFrame>
        <p:nvGraphicFramePr>
          <p:cNvPr id="119" name="Group 4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9320677"/>
              </p:ext>
            </p:extLst>
          </p:nvPr>
        </p:nvGraphicFramePr>
        <p:xfrm>
          <a:off x="2462213" y="2206625"/>
          <a:ext cx="1209675" cy="504825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41666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9301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6227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900" b="1" kern="1200" dirty="0" smtClean="0"/>
                        <a:t>Construction &amp; Pre-commissioning</a:t>
                      </a:r>
                      <a:endParaRPr lang="en-US" sz="900" b="1" kern="1200" dirty="0" smtClean="0">
                        <a:solidFill>
                          <a:schemeClr val="tx1"/>
                        </a:solidFill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solidFill>
                      <a:srgbClr val="DFF1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425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</a:rPr>
                        <a:t>85%</a:t>
                      </a:r>
                      <a:endParaRPr kumimoji="0" lang="en-US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solidFill>
                      <a:srgbClr val="DFF1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</a:rPr>
                        <a:t>CP</a:t>
                      </a:r>
                      <a:endParaRPr kumimoji="0" lang="en-US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solidFill>
                      <a:srgbClr val="DF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120" name="Group 4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7397564"/>
              </p:ext>
            </p:extLst>
          </p:nvPr>
        </p:nvGraphicFramePr>
        <p:xfrm>
          <a:off x="6929438" y="2201863"/>
          <a:ext cx="1209675" cy="504825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41666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9301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6227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900" b="1" kern="1200" dirty="0" smtClean="0"/>
                        <a:t>Commissioning &amp;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900" b="1" kern="1200" dirty="0" smtClean="0"/>
                        <a:t>As-built Drawings</a:t>
                      </a:r>
                      <a:endParaRPr lang="en-US" sz="900" b="1" kern="1200" dirty="0" smtClean="0">
                        <a:solidFill>
                          <a:schemeClr val="tx1"/>
                        </a:solidFill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solidFill>
                      <a:srgbClr val="DFF1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425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</a:rPr>
                        <a:t>15%</a:t>
                      </a:r>
                      <a:endParaRPr kumimoji="0" lang="en-US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solidFill>
                      <a:srgbClr val="DFF1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</a:rPr>
                        <a:t>CA</a:t>
                      </a:r>
                      <a:endParaRPr kumimoji="0" lang="en-US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solidFill>
                      <a:srgbClr val="DF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121" name="Group 4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375156"/>
              </p:ext>
            </p:extLst>
          </p:nvPr>
        </p:nvGraphicFramePr>
        <p:xfrm>
          <a:off x="4337050" y="1449388"/>
          <a:ext cx="1955800" cy="549275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67366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821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89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000" b="1" kern="1200" dirty="0" smtClean="0"/>
                        <a:t>Construction &amp; Commissioning</a:t>
                      </a:r>
                      <a:endParaRPr lang="en-US" sz="1000" b="1" kern="1200" dirty="0" smtClean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solidFill>
                      <a:srgbClr val="FFFFCC">
                        <a:alpha val="5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603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</a:rPr>
                        <a:t>100%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 Narrow" panose="020B0606020202030204" pitchFamily="34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</a:rPr>
                        <a:t>C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 Narrow" panose="020B0606020202030204" pitchFamily="34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cxnSp>
        <p:nvCxnSpPr>
          <p:cNvPr id="122" name="Elbow Connector 121"/>
          <p:cNvCxnSpPr>
            <a:endCxn id="119" idx="0"/>
          </p:cNvCxnSpPr>
          <p:nvPr/>
        </p:nvCxnSpPr>
        <p:spPr bwMode="auto">
          <a:xfrm rot="5400000">
            <a:off x="4083844" y="975519"/>
            <a:ext cx="214312" cy="2247900"/>
          </a:xfrm>
          <a:prstGeom prst="bentConnector3">
            <a:avLst>
              <a:gd name="adj1" fmla="val 52571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3" name="Elbow Connector 122"/>
          <p:cNvCxnSpPr/>
          <p:nvPr/>
        </p:nvCxnSpPr>
        <p:spPr bwMode="auto">
          <a:xfrm rot="16200000" flipH="1">
            <a:off x="6328569" y="991394"/>
            <a:ext cx="204787" cy="2219325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4" name="Elbow Connector 123"/>
          <p:cNvCxnSpPr>
            <a:stCxn id="158" idx="2"/>
            <a:endCxn id="187" idx="0"/>
          </p:cNvCxnSpPr>
          <p:nvPr/>
        </p:nvCxnSpPr>
        <p:spPr bwMode="auto">
          <a:xfrm rot="5400000">
            <a:off x="3019426" y="3324225"/>
            <a:ext cx="412750" cy="1222375"/>
          </a:xfrm>
          <a:prstGeom prst="bentConnector3">
            <a:avLst>
              <a:gd name="adj1" fmla="val 50000"/>
            </a:avLst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5" name="Elbow Connector 124"/>
          <p:cNvCxnSpPr>
            <a:stCxn id="158" idx="2"/>
            <a:endCxn id="188" idx="0"/>
          </p:cNvCxnSpPr>
          <p:nvPr/>
        </p:nvCxnSpPr>
        <p:spPr bwMode="auto">
          <a:xfrm rot="16200000" flipH="1">
            <a:off x="3843338" y="3722688"/>
            <a:ext cx="403225" cy="415925"/>
          </a:xfrm>
          <a:prstGeom prst="bentConnector3">
            <a:avLst>
              <a:gd name="adj1" fmla="val 50000"/>
            </a:avLst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6" name="Elbow Connector 125"/>
          <p:cNvCxnSpPr>
            <a:stCxn id="158" idx="2"/>
            <a:endCxn id="189" idx="0"/>
          </p:cNvCxnSpPr>
          <p:nvPr/>
        </p:nvCxnSpPr>
        <p:spPr bwMode="auto">
          <a:xfrm rot="16200000" flipH="1">
            <a:off x="5315744" y="2250282"/>
            <a:ext cx="412750" cy="3370262"/>
          </a:xfrm>
          <a:prstGeom prst="bentConnector3">
            <a:avLst>
              <a:gd name="adj1" fmla="val 50000"/>
            </a:avLst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7" name="Line 44"/>
          <p:cNvSpPr>
            <a:spLocks noChangeShapeType="1"/>
          </p:cNvSpPr>
          <p:nvPr/>
        </p:nvSpPr>
        <p:spPr bwMode="auto">
          <a:xfrm>
            <a:off x="2192338" y="4584700"/>
            <a:ext cx="0" cy="13001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" name="Rectangle 49"/>
          <p:cNvSpPr>
            <a:spLocks noChangeArrowheads="1"/>
          </p:cNvSpPr>
          <p:nvPr/>
        </p:nvSpPr>
        <p:spPr bwMode="auto">
          <a:xfrm>
            <a:off x="2314575" y="5286375"/>
            <a:ext cx="238125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 Narrow" panose="020B0606020202030204" pitchFamily="34" charset="0"/>
              </a:rPr>
              <a:t>HVAC</a:t>
            </a:r>
            <a:endParaRPr lang="en-US" altLang="en-US" sz="800">
              <a:solidFill>
                <a:srgbClr val="0000FF"/>
              </a:solidFill>
              <a:latin typeface="Arial Narrow" panose="020B0606020202030204" pitchFamily="34" charset="0"/>
            </a:endParaRPr>
          </a:p>
        </p:txBody>
      </p:sp>
      <p:sp>
        <p:nvSpPr>
          <p:cNvPr id="129" name="Rectangle 66"/>
          <p:cNvSpPr>
            <a:spLocks noChangeArrowheads="1"/>
          </p:cNvSpPr>
          <p:nvPr/>
        </p:nvSpPr>
        <p:spPr bwMode="auto">
          <a:xfrm>
            <a:off x="2263775" y="6003925"/>
            <a:ext cx="950913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 Narrow" panose="020B0606020202030204" pitchFamily="34" charset="0"/>
              </a:rPr>
              <a:t> Others (Please specify)</a:t>
            </a:r>
            <a:endParaRPr lang="en-US" altLang="en-US" sz="800">
              <a:solidFill>
                <a:srgbClr val="0000FF"/>
              </a:solidFill>
              <a:latin typeface="Arial Narrow" panose="020B0606020202030204" pitchFamily="34" charset="0"/>
            </a:endParaRPr>
          </a:p>
        </p:txBody>
      </p:sp>
      <p:sp>
        <p:nvSpPr>
          <p:cNvPr id="130" name="Rectangle 49"/>
          <p:cNvSpPr>
            <a:spLocks noChangeArrowheads="1"/>
          </p:cNvSpPr>
          <p:nvPr/>
        </p:nvSpPr>
        <p:spPr bwMode="auto">
          <a:xfrm>
            <a:off x="2330450" y="4672013"/>
            <a:ext cx="373063" cy="12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Arial Narrow" panose="020B0606020202030204" pitchFamily="34" charset="0"/>
              </a:rPr>
              <a:t>Electrical</a:t>
            </a:r>
          </a:p>
        </p:txBody>
      </p:sp>
      <p:cxnSp>
        <p:nvCxnSpPr>
          <p:cNvPr id="131" name="Straight Connector 135"/>
          <p:cNvCxnSpPr>
            <a:cxnSpLocks noChangeShapeType="1"/>
          </p:cNvCxnSpPr>
          <p:nvPr/>
        </p:nvCxnSpPr>
        <p:spPr bwMode="auto">
          <a:xfrm>
            <a:off x="2187575" y="4740275"/>
            <a:ext cx="920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2" name="Straight Connector 136"/>
          <p:cNvCxnSpPr>
            <a:cxnSpLocks noChangeShapeType="1"/>
          </p:cNvCxnSpPr>
          <p:nvPr/>
        </p:nvCxnSpPr>
        <p:spPr bwMode="auto">
          <a:xfrm>
            <a:off x="2187575" y="4933950"/>
            <a:ext cx="920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" name="Straight Connector 137"/>
          <p:cNvCxnSpPr>
            <a:cxnSpLocks noChangeShapeType="1"/>
          </p:cNvCxnSpPr>
          <p:nvPr/>
        </p:nvCxnSpPr>
        <p:spPr bwMode="auto">
          <a:xfrm>
            <a:off x="2187575" y="5519738"/>
            <a:ext cx="920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4" name="Straight Connector 138"/>
          <p:cNvCxnSpPr>
            <a:cxnSpLocks noChangeShapeType="1"/>
          </p:cNvCxnSpPr>
          <p:nvPr/>
        </p:nvCxnSpPr>
        <p:spPr bwMode="auto">
          <a:xfrm>
            <a:off x="2192338" y="5705475"/>
            <a:ext cx="920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5" name="Straight Connector 139"/>
          <p:cNvCxnSpPr>
            <a:cxnSpLocks noChangeShapeType="1"/>
          </p:cNvCxnSpPr>
          <p:nvPr/>
        </p:nvCxnSpPr>
        <p:spPr bwMode="auto">
          <a:xfrm>
            <a:off x="2197100" y="5329238"/>
            <a:ext cx="920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6" name="Straight Connector 136"/>
          <p:cNvCxnSpPr>
            <a:cxnSpLocks noChangeShapeType="1"/>
          </p:cNvCxnSpPr>
          <p:nvPr/>
        </p:nvCxnSpPr>
        <p:spPr bwMode="auto">
          <a:xfrm>
            <a:off x="2187575" y="5151438"/>
            <a:ext cx="920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7" name="Rectangle 49"/>
          <p:cNvSpPr>
            <a:spLocks noChangeArrowheads="1"/>
          </p:cNvSpPr>
          <p:nvPr/>
        </p:nvSpPr>
        <p:spPr bwMode="auto">
          <a:xfrm>
            <a:off x="2314575" y="5646738"/>
            <a:ext cx="766763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 Narrow" panose="020B0606020202030204" pitchFamily="34" charset="0"/>
              </a:rPr>
              <a:t>Kitchen Equipment</a:t>
            </a:r>
            <a:endParaRPr lang="en-US" altLang="en-US" sz="800">
              <a:solidFill>
                <a:srgbClr val="0000FF"/>
              </a:solidFill>
              <a:latin typeface="Arial Narrow" panose="020B0606020202030204" pitchFamily="34" charset="0"/>
            </a:endParaRPr>
          </a:p>
        </p:txBody>
      </p:sp>
      <p:sp>
        <p:nvSpPr>
          <p:cNvPr id="138" name="Rectangle 49"/>
          <p:cNvSpPr>
            <a:spLocks noChangeArrowheads="1"/>
          </p:cNvSpPr>
          <p:nvPr/>
        </p:nvSpPr>
        <p:spPr bwMode="auto">
          <a:xfrm>
            <a:off x="2301875" y="5838825"/>
            <a:ext cx="463550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 Narrow" panose="020B0606020202030204" pitchFamily="34" charset="0"/>
              </a:rPr>
              <a:t>AV System </a:t>
            </a:r>
            <a:endParaRPr lang="en-US" altLang="en-US" sz="800">
              <a:solidFill>
                <a:srgbClr val="0000FF"/>
              </a:solidFill>
              <a:latin typeface="Arial Narrow" panose="020B0606020202030204" pitchFamily="34" charset="0"/>
            </a:endParaRPr>
          </a:p>
        </p:txBody>
      </p:sp>
      <p:sp>
        <p:nvSpPr>
          <p:cNvPr id="139" name="Rectangle 60"/>
          <p:cNvSpPr>
            <a:spLocks noChangeArrowheads="1"/>
          </p:cNvSpPr>
          <p:nvPr/>
        </p:nvSpPr>
        <p:spPr bwMode="auto">
          <a:xfrm>
            <a:off x="2311400" y="5111750"/>
            <a:ext cx="1073150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 Narrow" panose="020B0606020202030204" pitchFamily="34" charset="0"/>
              </a:rPr>
              <a:t>Tele/Data/ CCTV/PA etc.</a:t>
            </a:r>
            <a:endParaRPr lang="en-US" altLang="en-US" sz="800">
              <a:solidFill>
                <a:srgbClr val="0000FF"/>
              </a:solidFill>
              <a:latin typeface="Arial Narrow" panose="020B0606020202030204" pitchFamily="34" charset="0"/>
            </a:endParaRPr>
          </a:p>
        </p:txBody>
      </p:sp>
      <p:sp>
        <p:nvSpPr>
          <p:cNvPr id="140" name="Line 44"/>
          <p:cNvSpPr>
            <a:spLocks noChangeShapeType="1"/>
          </p:cNvSpPr>
          <p:nvPr/>
        </p:nvSpPr>
        <p:spPr bwMode="auto">
          <a:xfrm>
            <a:off x="3722688" y="4592638"/>
            <a:ext cx="0" cy="11699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1" name="Rectangle 49"/>
          <p:cNvSpPr>
            <a:spLocks noChangeArrowheads="1"/>
          </p:cNvSpPr>
          <p:nvPr/>
        </p:nvSpPr>
        <p:spPr bwMode="auto">
          <a:xfrm>
            <a:off x="3840163" y="5294313"/>
            <a:ext cx="238125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 Narrow" panose="020B0606020202030204" pitchFamily="34" charset="0"/>
              </a:rPr>
              <a:t>HVAC</a:t>
            </a:r>
            <a:endParaRPr lang="en-US" altLang="en-US" sz="800">
              <a:solidFill>
                <a:srgbClr val="0000FF"/>
              </a:solidFill>
              <a:latin typeface="Arial Narrow" panose="020B0606020202030204" pitchFamily="34" charset="0"/>
            </a:endParaRPr>
          </a:p>
        </p:txBody>
      </p:sp>
      <p:sp>
        <p:nvSpPr>
          <p:cNvPr id="142" name="Rectangle 66"/>
          <p:cNvSpPr>
            <a:spLocks noChangeArrowheads="1"/>
          </p:cNvSpPr>
          <p:nvPr/>
        </p:nvSpPr>
        <p:spPr bwMode="auto">
          <a:xfrm>
            <a:off x="3787775" y="5895975"/>
            <a:ext cx="950913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 Narrow" panose="020B0606020202030204" pitchFamily="34" charset="0"/>
              </a:rPr>
              <a:t> Others (Please specify)</a:t>
            </a:r>
            <a:endParaRPr lang="en-US" altLang="en-US" sz="800">
              <a:solidFill>
                <a:srgbClr val="0000FF"/>
              </a:solidFill>
              <a:latin typeface="Arial Narrow" panose="020B0606020202030204" pitchFamily="34" charset="0"/>
            </a:endParaRPr>
          </a:p>
        </p:txBody>
      </p:sp>
      <p:sp>
        <p:nvSpPr>
          <p:cNvPr id="143" name="Rectangle 49"/>
          <p:cNvSpPr>
            <a:spLocks noChangeArrowheads="1"/>
          </p:cNvSpPr>
          <p:nvPr/>
        </p:nvSpPr>
        <p:spPr bwMode="auto">
          <a:xfrm>
            <a:off x="5395913" y="4700588"/>
            <a:ext cx="373062" cy="12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Arial Narrow" panose="020B0606020202030204" pitchFamily="34" charset="0"/>
              </a:rPr>
              <a:t>Electrical</a:t>
            </a:r>
          </a:p>
        </p:txBody>
      </p:sp>
      <p:cxnSp>
        <p:nvCxnSpPr>
          <p:cNvPr id="144" name="Straight Connector 135"/>
          <p:cNvCxnSpPr>
            <a:cxnSpLocks noChangeShapeType="1"/>
          </p:cNvCxnSpPr>
          <p:nvPr/>
        </p:nvCxnSpPr>
        <p:spPr bwMode="auto">
          <a:xfrm>
            <a:off x="5243513" y="4748213"/>
            <a:ext cx="90487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5" name="Straight Connector 136"/>
          <p:cNvCxnSpPr>
            <a:cxnSpLocks noChangeShapeType="1"/>
          </p:cNvCxnSpPr>
          <p:nvPr/>
        </p:nvCxnSpPr>
        <p:spPr bwMode="auto">
          <a:xfrm>
            <a:off x="3717925" y="4932363"/>
            <a:ext cx="90488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6" name="Straight Connector 138"/>
          <p:cNvCxnSpPr>
            <a:cxnSpLocks noChangeShapeType="1"/>
          </p:cNvCxnSpPr>
          <p:nvPr/>
        </p:nvCxnSpPr>
        <p:spPr bwMode="auto">
          <a:xfrm>
            <a:off x="3722688" y="5757863"/>
            <a:ext cx="90487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7" name="Straight Connector 139"/>
          <p:cNvCxnSpPr>
            <a:cxnSpLocks noChangeShapeType="1"/>
          </p:cNvCxnSpPr>
          <p:nvPr/>
        </p:nvCxnSpPr>
        <p:spPr bwMode="auto">
          <a:xfrm>
            <a:off x="3727450" y="5535613"/>
            <a:ext cx="90488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8" name="Straight Connector 136"/>
          <p:cNvCxnSpPr>
            <a:cxnSpLocks noChangeShapeType="1"/>
          </p:cNvCxnSpPr>
          <p:nvPr/>
        </p:nvCxnSpPr>
        <p:spPr bwMode="auto">
          <a:xfrm>
            <a:off x="3717925" y="5148263"/>
            <a:ext cx="90488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9" name="Rectangle 49"/>
          <p:cNvSpPr>
            <a:spLocks noChangeArrowheads="1"/>
          </p:cNvSpPr>
          <p:nvPr/>
        </p:nvSpPr>
        <p:spPr bwMode="auto">
          <a:xfrm>
            <a:off x="3838575" y="5689600"/>
            <a:ext cx="893763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 Narrow" panose="020B0606020202030204" pitchFamily="34" charset="0"/>
              </a:rPr>
              <a:t>Laboratory Equipment</a:t>
            </a:r>
            <a:endParaRPr lang="en-US" altLang="en-US" sz="800">
              <a:solidFill>
                <a:srgbClr val="0000FF"/>
              </a:solidFill>
              <a:latin typeface="Arial Narrow" panose="020B0606020202030204" pitchFamily="34" charset="0"/>
            </a:endParaRPr>
          </a:p>
        </p:txBody>
      </p:sp>
      <p:sp>
        <p:nvSpPr>
          <p:cNvPr id="150" name="Rectangle 60"/>
          <p:cNvSpPr>
            <a:spLocks noChangeArrowheads="1"/>
          </p:cNvSpPr>
          <p:nvPr/>
        </p:nvSpPr>
        <p:spPr bwMode="auto">
          <a:xfrm>
            <a:off x="3836988" y="5116513"/>
            <a:ext cx="1071562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 Narrow" panose="020B0606020202030204" pitchFamily="34" charset="0"/>
              </a:rPr>
              <a:t>Tele/Data/ CCTV/PA etc.</a:t>
            </a:r>
            <a:endParaRPr lang="en-US" altLang="en-US" sz="800">
              <a:solidFill>
                <a:srgbClr val="0000FF"/>
              </a:solidFill>
              <a:latin typeface="Arial Narrow" panose="020B0606020202030204" pitchFamily="34" charset="0"/>
            </a:endParaRPr>
          </a:p>
        </p:txBody>
      </p:sp>
      <p:sp>
        <p:nvSpPr>
          <p:cNvPr id="151" name="Line 44"/>
          <p:cNvSpPr>
            <a:spLocks noChangeShapeType="1"/>
          </p:cNvSpPr>
          <p:nvPr/>
        </p:nvSpPr>
        <p:spPr bwMode="auto">
          <a:xfrm>
            <a:off x="6727825" y="4630738"/>
            <a:ext cx="0" cy="120173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52" name="Straight Connector 2"/>
          <p:cNvCxnSpPr>
            <a:cxnSpLocks noChangeShapeType="1"/>
          </p:cNvCxnSpPr>
          <p:nvPr/>
        </p:nvCxnSpPr>
        <p:spPr bwMode="auto">
          <a:xfrm>
            <a:off x="6727825" y="4792663"/>
            <a:ext cx="920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" name="Straight Connector 136"/>
          <p:cNvCxnSpPr>
            <a:cxnSpLocks noChangeShapeType="1"/>
          </p:cNvCxnSpPr>
          <p:nvPr/>
        </p:nvCxnSpPr>
        <p:spPr bwMode="auto">
          <a:xfrm>
            <a:off x="6723063" y="5222875"/>
            <a:ext cx="920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" name="Straight Connector 139"/>
          <p:cNvCxnSpPr>
            <a:cxnSpLocks noChangeShapeType="1"/>
          </p:cNvCxnSpPr>
          <p:nvPr/>
        </p:nvCxnSpPr>
        <p:spPr bwMode="auto">
          <a:xfrm>
            <a:off x="6727825" y="5822950"/>
            <a:ext cx="90488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5" name="Straight Connector 136"/>
          <p:cNvCxnSpPr>
            <a:cxnSpLocks noChangeShapeType="1"/>
          </p:cNvCxnSpPr>
          <p:nvPr/>
        </p:nvCxnSpPr>
        <p:spPr bwMode="auto">
          <a:xfrm>
            <a:off x="6723063" y="5627688"/>
            <a:ext cx="920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6" name="Straight Connector 135"/>
          <p:cNvCxnSpPr>
            <a:cxnSpLocks noChangeShapeType="1"/>
          </p:cNvCxnSpPr>
          <p:nvPr/>
        </p:nvCxnSpPr>
        <p:spPr bwMode="auto">
          <a:xfrm>
            <a:off x="6726238" y="5011738"/>
            <a:ext cx="920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7" name="Rectangle 15"/>
          <p:cNvSpPr>
            <a:spLocks noChangeArrowheads="1"/>
          </p:cNvSpPr>
          <p:nvPr/>
        </p:nvSpPr>
        <p:spPr bwMode="auto">
          <a:xfrm>
            <a:off x="2211388" y="2798763"/>
            <a:ext cx="2012950" cy="23018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900" dirty="0" smtClean="0">
                <a:solidFill>
                  <a:srgbClr val="0000FF"/>
                </a:solidFill>
                <a:latin typeface="Arial" panose="020B0604020202020204" pitchFamily="34" charset="0"/>
              </a:rPr>
              <a:t>Refer Page 1 of 2 for details.</a:t>
            </a:r>
          </a:p>
        </p:txBody>
      </p:sp>
      <p:graphicFrame>
        <p:nvGraphicFramePr>
          <p:cNvPr id="158" name="Table 1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242653"/>
              </p:ext>
            </p:extLst>
          </p:nvPr>
        </p:nvGraphicFramePr>
        <p:xfrm>
          <a:off x="3232150" y="3224213"/>
          <a:ext cx="1209675" cy="504825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41666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9301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6227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800" b="1" kern="1200" dirty="0" smtClean="0">
                          <a:latin typeface="Arial Narrow" panose="020B0606020202030204" pitchFamily="34" charset="0"/>
                        </a:rPr>
                        <a:t>Commissioning </a:t>
                      </a:r>
                      <a:r>
                        <a:rPr lang="en-US" sz="1000" b="1" kern="1200" dirty="0" smtClean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**</a:t>
                      </a:r>
                      <a:endParaRPr lang="en-US" sz="800" b="1" kern="1200" dirty="0" smtClean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 anchorCtr="1" horzOverflow="overflow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425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</a:rPr>
                        <a:t>75%</a:t>
                      </a:r>
                      <a:endParaRPr kumimoji="0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 Narrow" panose="020B0606020202030204" pitchFamily="34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</a:rPr>
                        <a:t>CM</a:t>
                      </a:r>
                      <a:endParaRPr kumimoji="0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 Narrow" panose="020B0606020202030204" pitchFamily="34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159" name="Table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3534247"/>
              </p:ext>
            </p:extLst>
          </p:nvPr>
        </p:nvGraphicFramePr>
        <p:xfrm>
          <a:off x="7926388" y="3236913"/>
          <a:ext cx="1209675" cy="504825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41666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9301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6227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800" b="1" kern="1200" dirty="0" smtClean="0">
                          <a:latin typeface="Arial Narrow" panose="020B0606020202030204" pitchFamily="34" charset="0"/>
                        </a:rPr>
                        <a:t>As</a:t>
                      </a:r>
                      <a:r>
                        <a:rPr lang="en-US" sz="800" b="1" kern="1200" baseline="0" dirty="0" smtClean="0">
                          <a:latin typeface="Arial Narrow" panose="020B0606020202030204" pitchFamily="34" charset="0"/>
                        </a:rPr>
                        <a:t>-Built Drawings, Final Documentation &amp; Close Out</a:t>
                      </a:r>
                      <a:endParaRPr lang="en-US" sz="800" b="1" kern="1200" dirty="0" smtClean="0"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 anchorCtr="1" horzOverflow="overflow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425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</a:rPr>
                        <a:t>25%</a:t>
                      </a:r>
                      <a:endParaRPr kumimoji="0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 Narrow" panose="020B0606020202030204" pitchFamily="34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  <a:cs typeface="+mn-cs"/>
                        </a:rPr>
                        <a:t>AD</a:t>
                      </a:r>
                      <a:endParaRPr kumimoji="0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 Narrow" panose="020B0606020202030204" pitchFamily="34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cxnSp>
        <p:nvCxnSpPr>
          <p:cNvPr id="160" name="Elbow Connector 159"/>
          <p:cNvCxnSpPr>
            <a:stCxn id="120" idx="2"/>
            <a:endCxn id="158" idx="0"/>
          </p:cNvCxnSpPr>
          <p:nvPr/>
        </p:nvCxnSpPr>
        <p:spPr bwMode="auto">
          <a:xfrm rot="5400000">
            <a:off x="5426869" y="1116807"/>
            <a:ext cx="517525" cy="3697287"/>
          </a:xfrm>
          <a:prstGeom prst="bentConnector3">
            <a:avLst>
              <a:gd name="adj1" fmla="val 50000"/>
            </a:avLst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1" name="Elbow Connector 160"/>
          <p:cNvCxnSpPr>
            <a:stCxn id="120" idx="2"/>
            <a:endCxn id="159" idx="0"/>
          </p:cNvCxnSpPr>
          <p:nvPr/>
        </p:nvCxnSpPr>
        <p:spPr bwMode="auto">
          <a:xfrm rot="16200000" flipH="1">
            <a:off x="7767637" y="2473326"/>
            <a:ext cx="530225" cy="996950"/>
          </a:xfrm>
          <a:prstGeom prst="bentConnector3">
            <a:avLst>
              <a:gd name="adj1" fmla="val 48563"/>
            </a:avLst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2" name="Rectangle 66"/>
          <p:cNvSpPr>
            <a:spLocks noChangeArrowheads="1"/>
          </p:cNvSpPr>
          <p:nvPr/>
        </p:nvSpPr>
        <p:spPr bwMode="auto">
          <a:xfrm>
            <a:off x="6805613" y="5956300"/>
            <a:ext cx="950912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 Narrow" panose="020B0606020202030204" pitchFamily="34" charset="0"/>
              </a:rPr>
              <a:t> Others (Please specify)</a:t>
            </a:r>
            <a:endParaRPr lang="en-US" altLang="en-US" sz="800">
              <a:solidFill>
                <a:srgbClr val="0000FF"/>
              </a:solidFill>
              <a:latin typeface="Arial Narrow" panose="020B0606020202030204" pitchFamily="34" charset="0"/>
            </a:endParaRPr>
          </a:p>
        </p:txBody>
      </p:sp>
      <p:sp>
        <p:nvSpPr>
          <p:cNvPr id="163" name="Rectangle 49"/>
          <p:cNvSpPr>
            <a:spLocks noChangeArrowheads="1"/>
          </p:cNvSpPr>
          <p:nvPr/>
        </p:nvSpPr>
        <p:spPr bwMode="auto">
          <a:xfrm>
            <a:off x="6862763" y="4714875"/>
            <a:ext cx="374650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Arial Narrow" panose="020B0606020202030204" pitchFamily="34" charset="0"/>
              </a:rPr>
              <a:t>Electrical</a:t>
            </a:r>
          </a:p>
        </p:txBody>
      </p:sp>
      <p:sp>
        <p:nvSpPr>
          <p:cNvPr id="164" name="Rectangle 60"/>
          <p:cNvSpPr>
            <a:spLocks noChangeArrowheads="1"/>
          </p:cNvSpPr>
          <p:nvPr/>
        </p:nvSpPr>
        <p:spPr bwMode="auto">
          <a:xfrm>
            <a:off x="6845300" y="5157788"/>
            <a:ext cx="1071563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 Narrow" panose="020B0606020202030204" pitchFamily="34" charset="0"/>
              </a:rPr>
              <a:t>Tele/Data/CCTV/PA etc.</a:t>
            </a:r>
            <a:endParaRPr lang="en-US" altLang="en-US" sz="800">
              <a:solidFill>
                <a:srgbClr val="0000FF"/>
              </a:solidFill>
              <a:latin typeface="Arial Narrow" panose="020B0606020202030204" pitchFamily="34" charset="0"/>
            </a:endParaRPr>
          </a:p>
        </p:txBody>
      </p:sp>
      <p:sp>
        <p:nvSpPr>
          <p:cNvPr id="165" name="Rectangle 49"/>
          <p:cNvSpPr>
            <a:spLocks noChangeArrowheads="1"/>
          </p:cNvSpPr>
          <p:nvPr/>
        </p:nvSpPr>
        <p:spPr bwMode="auto">
          <a:xfrm>
            <a:off x="6845300" y="5756275"/>
            <a:ext cx="930275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Arial Narrow" panose="020B0606020202030204" pitchFamily="34" charset="0"/>
              </a:rPr>
              <a:t>Landscaping/ Irrigation</a:t>
            </a:r>
          </a:p>
        </p:txBody>
      </p:sp>
      <p:sp>
        <p:nvSpPr>
          <p:cNvPr id="166" name="Line 44"/>
          <p:cNvSpPr>
            <a:spLocks noChangeShapeType="1"/>
          </p:cNvSpPr>
          <p:nvPr/>
        </p:nvSpPr>
        <p:spPr bwMode="auto">
          <a:xfrm>
            <a:off x="8158163" y="3751263"/>
            <a:ext cx="0" cy="11938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67" name="Straight Connector 2"/>
          <p:cNvCxnSpPr>
            <a:cxnSpLocks noChangeShapeType="1"/>
          </p:cNvCxnSpPr>
          <p:nvPr/>
        </p:nvCxnSpPr>
        <p:spPr bwMode="auto">
          <a:xfrm>
            <a:off x="8164513" y="4049713"/>
            <a:ext cx="90487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8" name="Straight Connector 135"/>
          <p:cNvCxnSpPr>
            <a:cxnSpLocks noChangeShapeType="1"/>
          </p:cNvCxnSpPr>
          <p:nvPr/>
        </p:nvCxnSpPr>
        <p:spPr bwMode="auto">
          <a:xfrm>
            <a:off x="8166100" y="4470400"/>
            <a:ext cx="920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9" name="Straight Connector 136"/>
          <p:cNvCxnSpPr>
            <a:cxnSpLocks noChangeShapeType="1"/>
          </p:cNvCxnSpPr>
          <p:nvPr/>
        </p:nvCxnSpPr>
        <p:spPr bwMode="auto">
          <a:xfrm>
            <a:off x="8159750" y="4687888"/>
            <a:ext cx="90488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0" name="Straight Connector 136"/>
          <p:cNvCxnSpPr>
            <a:cxnSpLocks noChangeShapeType="1"/>
          </p:cNvCxnSpPr>
          <p:nvPr/>
        </p:nvCxnSpPr>
        <p:spPr bwMode="auto">
          <a:xfrm>
            <a:off x="8159750" y="4940300"/>
            <a:ext cx="90488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1" name="Straight Connector 135"/>
          <p:cNvCxnSpPr>
            <a:cxnSpLocks noChangeShapeType="1"/>
          </p:cNvCxnSpPr>
          <p:nvPr/>
        </p:nvCxnSpPr>
        <p:spPr bwMode="auto">
          <a:xfrm>
            <a:off x="8162925" y="4246563"/>
            <a:ext cx="90488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2" name="Down Arrow 108"/>
          <p:cNvSpPr>
            <a:spLocks noChangeArrowheads="1"/>
          </p:cNvSpPr>
          <p:nvPr/>
        </p:nvSpPr>
        <p:spPr bwMode="auto">
          <a:xfrm>
            <a:off x="2995613" y="2722563"/>
            <a:ext cx="107950" cy="106362"/>
          </a:xfrm>
          <a:prstGeom prst="downArrow">
            <a:avLst>
              <a:gd name="adj1" fmla="val 50000"/>
              <a:gd name="adj2" fmla="val 50000"/>
            </a:avLst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257911" tIns="128949" rIns="257911" bIns="128949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90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173" name="Rectangle 49"/>
          <p:cNvSpPr>
            <a:spLocks noChangeArrowheads="1"/>
          </p:cNvSpPr>
          <p:nvPr/>
        </p:nvSpPr>
        <p:spPr bwMode="auto">
          <a:xfrm>
            <a:off x="2311400" y="5454650"/>
            <a:ext cx="846138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 Narrow" panose="020B0606020202030204" pitchFamily="34" charset="0"/>
              </a:rPr>
              <a:t>Mechanical &amp; Piping.</a:t>
            </a:r>
            <a:endParaRPr lang="en-US" altLang="en-US" sz="800">
              <a:solidFill>
                <a:srgbClr val="0000FF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174" name="Straight Connector 138"/>
          <p:cNvCxnSpPr>
            <a:cxnSpLocks noChangeShapeType="1"/>
          </p:cNvCxnSpPr>
          <p:nvPr/>
        </p:nvCxnSpPr>
        <p:spPr bwMode="auto">
          <a:xfrm>
            <a:off x="2190750" y="5872163"/>
            <a:ext cx="920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5" name="Rectangle 49"/>
          <p:cNvSpPr>
            <a:spLocks noChangeArrowheads="1"/>
          </p:cNvSpPr>
          <p:nvPr/>
        </p:nvSpPr>
        <p:spPr bwMode="auto">
          <a:xfrm>
            <a:off x="3843338" y="5480050"/>
            <a:ext cx="820737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 Narrow" panose="020B0606020202030204" pitchFamily="34" charset="0"/>
              </a:rPr>
              <a:t>Mechanical &amp; Piping</a:t>
            </a:r>
            <a:endParaRPr lang="en-US" altLang="en-US" sz="800">
              <a:solidFill>
                <a:srgbClr val="0000FF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176" name="Straight Connector 136"/>
          <p:cNvCxnSpPr>
            <a:cxnSpLocks noChangeShapeType="1"/>
          </p:cNvCxnSpPr>
          <p:nvPr/>
        </p:nvCxnSpPr>
        <p:spPr bwMode="auto">
          <a:xfrm>
            <a:off x="3721100" y="5334000"/>
            <a:ext cx="90488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7" name="Rectangle 49"/>
          <p:cNvSpPr>
            <a:spLocks noChangeArrowheads="1"/>
          </p:cNvSpPr>
          <p:nvPr/>
        </p:nvSpPr>
        <p:spPr bwMode="auto">
          <a:xfrm>
            <a:off x="6848475" y="5370513"/>
            <a:ext cx="238125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 Narrow" panose="020B0606020202030204" pitchFamily="34" charset="0"/>
              </a:rPr>
              <a:t>HVAC</a:t>
            </a:r>
            <a:endParaRPr lang="en-US" altLang="en-US" sz="800">
              <a:solidFill>
                <a:srgbClr val="0000FF"/>
              </a:solidFill>
              <a:latin typeface="Arial Narrow" panose="020B0606020202030204" pitchFamily="34" charset="0"/>
            </a:endParaRPr>
          </a:p>
        </p:txBody>
      </p:sp>
      <p:sp>
        <p:nvSpPr>
          <p:cNvPr id="178" name="Rectangle 49"/>
          <p:cNvSpPr>
            <a:spLocks noChangeArrowheads="1"/>
          </p:cNvSpPr>
          <p:nvPr/>
        </p:nvSpPr>
        <p:spPr bwMode="auto">
          <a:xfrm>
            <a:off x="6838950" y="5564188"/>
            <a:ext cx="820738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 Narrow" panose="020B0606020202030204" pitchFamily="34" charset="0"/>
              </a:rPr>
              <a:t>Mechanical &amp; Piping</a:t>
            </a:r>
            <a:endParaRPr lang="en-US" altLang="en-US" sz="800">
              <a:solidFill>
                <a:srgbClr val="0000FF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179" name="Straight Connector 136"/>
          <p:cNvCxnSpPr>
            <a:cxnSpLocks noChangeShapeType="1"/>
          </p:cNvCxnSpPr>
          <p:nvPr/>
        </p:nvCxnSpPr>
        <p:spPr bwMode="auto">
          <a:xfrm>
            <a:off x="6723063" y="5432425"/>
            <a:ext cx="920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0" name="TextBox 106"/>
          <p:cNvSpPr txBox="1">
            <a:spLocks noChangeArrowheads="1"/>
          </p:cNvSpPr>
          <p:nvPr/>
        </p:nvSpPr>
        <p:spPr bwMode="auto">
          <a:xfrm>
            <a:off x="2219325" y="4765675"/>
            <a:ext cx="13446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Arial Narrow" panose="020B0606020202030204" pitchFamily="34" charset="0"/>
              </a:rPr>
              <a:t>Fire, Smoke Gas Detection and Alarm</a:t>
            </a:r>
            <a:endParaRPr lang="en-GB" altLang="en-US" sz="800">
              <a:latin typeface="Arial Narrow" panose="020B0606020202030204" pitchFamily="34" charset="0"/>
            </a:endParaRPr>
          </a:p>
        </p:txBody>
      </p:sp>
      <p:sp>
        <p:nvSpPr>
          <p:cNvPr id="181" name="TextBox 108"/>
          <p:cNvSpPr txBox="1">
            <a:spLocks noChangeArrowheads="1"/>
          </p:cNvSpPr>
          <p:nvPr/>
        </p:nvSpPr>
        <p:spPr bwMode="auto">
          <a:xfrm>
            <a:off x="3759200" y="4789488"/>
            <a:ext cx="13446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Arial Narrow" panose="020B0606020202030204" pitchFamily="34" charset="0"/>
              </a:rPr>
              <a:t>Fire, Smoke Gas Detection and Alarm</a:t>
            </a:r>
            <a:endParaRPr lang="en-GB" altLang="en-US" sz="800">
              <a:latin typeface="Arial Narrow" panose="020B0606020202030204" pitchFamily="34" charset="0"/>
            </a:endParaRPr>
          </a:p>
        </p:txBody>
      </p:sp>
      <p:sp>
        <p:nvSpPr>
          <p:cNvPr id="182" name="TextBox 110"/>
          <p:cNvSpPr txBox="1">
            <a:spLocks noChangeArrowheads="1"/>
          </p:cNvSpPr>
          <p:nvPr/>
        </p:nvSpPr>
        <p:spPr bwMode="auto">
          <a:xfrm>
            <a:off x="6765925" y="4824413"/>
            <a:ext cx="13446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Arial Narrow" panose="020B0606020202030204" pitchFamily="34" charset="0"/>
              </a:rPr>
              <a:t>Fire, Smoke Gas Detection and Alarm</a:t>
            </a:r>
            <a:endParaRPr lang="en-GB" altLang="en-US" sz="800">
              <a:latin typeface="Arial Narrow" panose="020B0606020202030204" pitchFamily="34" charset="0"/>
            </a:endParaRPr>
          </a:p>
        </p:txBody>
      </p:sp>
      <p:sp>
        <p:nvSpPr>
          <p:cNvPr id="183" name="Rectangle 56"/>
          <p:cNvSpPr>
            <a:spLocks noChangeArrowheads="1"/>
          </p:cNvSpPr>
          <p:nvPr/>
        </p:nvSpPr>
        <p:spPr bwMode="auto">
          <a:xfrm>
            <a:off x="8283575" y="3979863"/>
            <a:ext cx="912813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 Narrow" panose="020B0606020202030204" pitchFamily="34" charset="0"/>
              </a:rPr>
              <a:t>As Built Drawings</a:t>
            </a:r>
            <a:endParaRPr lang="en-US" altLang="en-US" sz="800">
              <a:solidFill>
                <a:srgbClr val="0000FF"/>
              </a:solidFill>
              <a:latin typeface="Arial Narrow" panose="020B0606020202030204" pitchFamily="34" charset="0"/>
            </a:endParaRPr>
          </a:p>
        </p:txBody>
      </p:sp>
      <p:sp>
        <p:nvSpPr>
          <p:cNvPr id="184" name="Rectangle 49"/>
          <p:cNvSpPr>
            <a:spLocks noChangeArrowheads="1"/>
          </p:cNvSpPr>
          <p:nvPr/>
        </p:nvSpPr>
        <p:spPr bwMode="auto">
          <a:xfrm>
            <a:off x="8297863" y="4403725"/>
            <a:ext cx="855662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Arial Narrow" panose="020B0606020202030204" pitchFamily="34" charset="0"/>
              </a:rPr>
              <a:t>Final Documentation </a:t>
            </a:r>
          </a:p>
        </p:txBody>
      </p:sp>
      <p:sp>
        <p:nvSpPr>
          <p:cNvPr id="185" name="Rectangle 49"/>
          <p:cNvSpPr>
            <a:spLocks noChangeArrowheads="1"/>
          </p:cNvSpPr>
          <p:nvPr/>
        </p:nvSpPr>
        <p:spPr bwMode="auto">
          <a:xfrm>
            <a:off x="8289925" y="4178300"/>
            <a:ext cx="1139825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Arial Narrow" panose="020B0606020202030204" pitchFamily="34" charset="0"/>
              </a:rPr>
              <a:t>Update of Existing Drawings</a:t>
            </a:r>
          </a:p>
        </p:txBody>
      </p:sp>
      <p:sp>
        <p:nvSpPr>
          <p:cNvPr id="186" name="Rectangle 49"/>
          <p:cNvSpPr>
            <a:spLocks noChangeArrowheads="1"/>
          </p:cNvSpPr>
          <p:nvPr/>
        </p:nvSpPr>
        <p:spPr bwMode="auto">
          <a:xfrm>
            <a:off x="8289925" y="4865688"/>
            <a:ext cx="927100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 Narrow" panose="020B0606020202030204" pitchFamily="34" charset="0"/>
              </a:rPr>
              <a:t>Others (Please specify)</a:t>
            </a:r>
            <a:endParaRPr lang="en-US" altLang="en-US" sz="800">
              <a:solidFill>
                <a:srgbClr val="0000FF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187" name="Group 4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783411"/>
              </p:ext>
            </p:extLst>
          </p:nvPr>
        </p:nvGraphicFramePr>
        <p:xfrm>
          <a:off x="2009775" y="4141788"/>
          <a:ext cx="1209675" cy="447675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41666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9301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9943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900" b="1" kern="1200" dirty="0" smtClean="0"/>
                        <a:t>Building-1</a:t>
                      </a:r>
                      <a:endParaRPr lang="en-US" sz="900" b="1" kern="1200" dirty="0" smtClean="0">
                        <a:solidFill>
                          <a:schemeClr val="tx1"/>
                        </a:solidFill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82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60%</a:t>
                      </a:r>
                    </a:p>
                  </a:txBody>
                  <a:tcPr marL="0" marR="0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1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</a:rPr>
                        <a:t>AC</a:t>
                      </a:r>
                      <a:endParaRPr kumimoji="0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188" name="Group 4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9962449"/>
              </p:ext>
            </p:extLst>
          </p:nvPr>
        </p:nvGraphicFramePr>
        <p:xfrm>
          <a:off x="3648075" y="4132263"/>
          <a:ext cx="1209675" cy="458787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41666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9301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0686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900" b="1" kern="1200" dirty="0" smtClean="0"/>
                        <a:t>Building</a:t>
                      </a:r>
                      <a:r>
                        <a:rPr lang="en-US" sz="900" b="1" kern="1200" baseline="0" dirty="0" smtClean="0"/>
                        <a:t> -2</a:t>
                      </a:r>
                      <a:endParaRPr lang="en-US" sz="900" b="1" kern="1200" dirty="0" smtClean="0">
                        <a:solidFill>
                          <a:schemeClr val="tx1"/>
                        </a:solidFill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5192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10%</a:t>
                      </a:r>
                    </a:p>
                  </a:txBody>
                  <a:tcPr marL="0" marR="0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1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</a:rPr>
                        <a:t>LE</a:t>
                      </a:r>
                      <a:endParaRPr kumimoji="0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189" name="Group 4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6853539"/>
              </p:ext>
            </p:extLst>
          </p:nvPr>
        </p:nvGraphicFramePr>
        <p:xfrm>
          <a:off x="6602413" y="4141788"/>
          <a:ext cx="1209675" cy="48260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41666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9301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2946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9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Building-3</a:t>
                      </a:r>
                      <a:endParaRPr lang="en-US" sz="800" b="1" kern="1200" dirty="0" smtClean="0">
                        <a:solidFill>
                          <a:schemeClr val="tx1"/>
                        </a:solidFill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531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25%</a:t>
                      </a:r>
                    </a:p>
                  </a:txBody>
                  <a:tcPr marL="0" marR="0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1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</a:rPr>
                        <a:t>EX</a:t>
                      </a:r>
                      <a:endParaRPr kumimoji="0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190" name="Group 4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188511"/>
              </p:ext>
            </p:extLst>
          </p:nvPr>
        </p:nvGraphicFramePr>
        <p:xfrm>
          <a:off x="5103813" y="4132263"/>
          <a:ext cx="1209675" cy="458787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41666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9301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0686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9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Common Area</a:t>
                      </a:r>
                      <a:endParaRPr lang="en-US" sz="900" b="1" kern="1200" dirty="0" smtClean="0">
                        <a:solidFill>
                          <a:schemeClr val="tx1"/>
                        </a:solidFill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5192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5%</a:t>
                      </a:r>
                    </a:p>
                  </a:txBody>
                  <a:tcPr marL="0" marR="0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1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4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</a:rPr>
                        <a:t>RE</a:t>
                      </a:r>
                      <a:endParaRPr kumimoji="0" 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anchor="ctr" anchorCtr="1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191" name="Rectangle 49"/>
          <p:cNvSpPr>
            <a:spLocks noChangeArrowheads="1"/>
          </p:cNvSpPr>
          <p:nvPr/>
        </p:nvSpPr>
        <p:spPr bwMode="auto">
          <a:xfrm>
            <a:off x="3859213" y="4670425"/>
            <a:ext cx="373062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Arial Narrow" panose="020B0606020202030204" pitchFamily="34" charset="0"/>
              </a:rPr>
              <a:t>Electrical</a:t>
            </a:r>
          </a:p>
        </p:txBody>
      </p:sp>
      <p:cxnSp>
        <p:nvCxnSpPr>
          <p:cNvPr id="192" name="Straight Connector 135"/>
          <p:cNvCxnSpPr>
            <a:cxnSpLocks noChangeShapeType="1"/>
          </p:cNvCxnSpPr>
          <p:nvPr/>
        </p:nvCxnSpPr>
        <p:spPr bwMode="auto">
          <a:xfrm>
            <a:off x="3717925" y="4737100"/>
            <a:ext cx="90488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3" name="Rectangle 66"/>
          <p:cNvSpPr>
            <a:spLocks noChangeArrowheads="1"/>
          </p:cNvSpPr>
          <p:nvPr/>
        </p:nvSpPr>
        <p:spPr bwMode="auto">
          <a:xfrm>
            <a:off x="5364163" y="4865688"/>
            <a:ext cx="950912" cy="12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Arial Narrow" panose="020B0606020202030204" pitchFamily="34" charset="0"/>
              </a:rPr>
              <a:t> Others (Please specify)</a:t>
            </a:r>
            <a:endParaRPr lang="en-US" altLang="en-US" sz="800">
              <a:solidFill>
                <a:srgbClr val="0000FF"/>
              </a:solidFill>
              <a:latin typeface="Arial Narrow" panose="020B0606020202030204" pitchFamily="34" charset="0"/>
            </a:endParaRPr>
          </a:p>
        </p:txBody>
      </p:sp>
      <p:sp>
        <p:nvSpPr>
          <p:cNvPr id="194" name="Line 44"/>
          <p:cNvSpPr>
            <a:spLocks noChangeShapeType="1"/>
          </p:cNvSpPr>
          <p:nvPr/>
        </p:nvSpPr>
        <p:spPr bwMode="auto">
          <a:xfrm>
            <a:off x="5253038" y="4581525"/>
            <a:ext cx="0" cy="1746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95" name="Elbow Connector 194"/>
          <p:cNvCxnSpPr>
            <a:stCxn id="158" idx="2"/>
            <a:endCxn id="190" idx="0"/>
          </p:cNvCxnSpPr>
          <p:nvPr/>
        </p:nvCxnSpPr>
        <p:spPr bwMode="auto">
          <a:xfrm rot="16200000" flipH="1">
            <a:off x="4571206" y="2994820"/>
            <a:ext cx="403225" cy="1871662"/>
          </a:xfrm>
          <a:prstGeom prst="bentConnector3">
            <a:avLst>
              <a:gd name="adj1" fmla="val 50000"/>
            </a:avLst>
          </a:prstGeom>
          <a:ln w="12700"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3364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396</Words>
  <PresentationFormat>Widescreen</PresentationFormat>
  <Paragraphs>146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 Unicode MS</vt:lpstr>
      <vt:lpstr>Arial</vt:lpstr>
      <vt:lpstr>Arial Narrow</vt:lpstr>
      <vt:lpstr>Calibri</vt:lpstr>
      <vt:lpstr>Calibri Light</vt:lpstr>
      <vt:lpstr>Times New Roman</vt:lpstr>
      <vt:lpstr>Office Theme</vt:lpstr>
      <vt:lpstr>WORK BREAK DOWN STRUCTURE </vt:lpstr>
      <vt:lpstr>WORK BREAK DOWN STRUCTURE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2021-02-19T19:08:22Z</dcterms:created>
  <dcterms:modified xsi:type="dcterms:W3CDTF">2021-02-20T10:46:22Z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11922da-9067-4dbd-8d25-c43985959204_Enabled">
    <vt:lpwstr>True</vt:lpwstr>
  </property>
  <property fmtid="{D5CDD505-2E9C-101B-9397-08002B2CF9AE}" pid="3" name="MSIP_Label_711922da-9067-4dbd-8d25-c43985959204_SiteId">
    <vt:lpwstr>74892fe7-b6cb-43e7-912b-52194d3fd7c8</vt:lpwstr>
  </property>
  <property fmtid="{D5CDD505-2E9C-101B-9397-08002B2CF9AE}" pid="4" name="MSIP_Label_711922da-9067-4dbd-8d25-c43985959204_Owner">
    <vt:lpwstr>jtayyath@adnoc.ae</vt:lpwstr>
  </property>
  <property fmtid="{D5CDD505-2E9C-101B-9397-08002B2CF9AE}" pid="5" name="MSIP_Label_711922da-9067-4dbd-8d25-c43985959204_SetDate">
    <vt:lpwstr>2021-02-19T19:14:23.9612418Z</vt:lpwstr>
  </property>
  <property fmtid="{D5CDD505-2E9C-101B-9397-08002B2CF9AE}" pid="6" name="MSIP_Label_711922da-9067-4dbd-8d25-c43985959204_Name">
    <vt:lpwstr>Internal</vt:lpwstr>
  </property>
  <property fmtid="{D5CDD505-2E9C-101B-9397-08002B2CF9AE}" pid="7" name="MSIP_Label_711922da-9067-4dbd-8d25-c43985959204_Application">
    <vt:lpwstr>Microsoft Azure Information Protection</vt:lpwstr>
  </property>
  <property fmtid="{D5CDD505-2E9C-101B-9397-08002B2CF9AE}" pid="8" name="MSIP_Label_711922da-9067-4dbd-8d25-c43985959204_ActionId">
    <vt:lpwstr>421945fb-5a56-4cc9-bfea-cd02269bafa7</vt:lpwstr>
  </property>
  <property fmtid="{D5CDD505-2E9C-101B-9397-08002B2CF9AE}" pid="9" name="MSIP_Label_711922da-9067-4dbd-8d25-c43985959204_Extended_MSFT_Method">
    <vt:lpwstr>Automatic</vt:lpwstr>
  </property>
  <property fmtid="{D5CDD505-2E9C-101B-9397-08002B2CF9AE}" pid="10" name="Sensitivity">
    <vt:lpwstr>Internal</vt:lpwstr>
  </property>
</Properties>
</file>